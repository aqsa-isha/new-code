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14717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Introduction to Big Data and Hadoop Ecosystem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904893"/>
            <a:ext cx="7556421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Big Data refers to massive, fast-growing datasets from diverse sources. Traditional systems often struggle to efficiently store and process this volume of information. Hadoop, an open-source Java framework, provides a scalable and cost-effective solution for distributed storage and processing of Big Data on commodity hardware.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76632"/>
            <a:ext cx="926211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Overview of Big Data and Hadoop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148721"/>
            <a:ext cx="6407944" cy="121920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4" name="Shape 2"/>
          <p:cNvSpPr/>
          <p:nvPr/>
        </p:nvSpPr>
        <p:spPr>
          <a:xfrm>
            <a:off x="3657540" y="1839039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4950BC"/>
          </a:solidFill>
          <a:ln/>
        </p:spPr>
      </p:sp>
      <p:sp>
        <p:nvSpPr>
          <p:cNvPr id="5" name="Text 3"/>
          <p:cNvSpPr/>
          <p:nvPr/>
        </p:nvSpPr>
        <p:spPr>
          <a:xfrm>
            <a:off x="3861614" y="2009180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51084" y="27461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Google Roots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084" y="3236595"/>
            <a:ext cx="589335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Hadoop originated from Google's File System and MapReduce concepts in 2003, designed for large-scale data processing.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2148721"/>
            <a:ext cx="6408063" cy="121920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9" name="Shape 7"/>
          <p:cNvSpPr/>
          <p:nvPr/>
        </p:nvSpPr>
        <p:spPr>
          <a:xfrm>
            <a:off x="10292298" y="1839039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4950BC"/>
          </a:solidFill>
          <a:ln/>
        </p:spPr>
      </p:sp>
      <p:sp>
        <p:nvSpPr>
          <p:cNvPr id="10" name="Text 8"/>
          <p:cNvSpPr/>
          <p:nvPr/>
        </p:nvSpPr>
        <p:spPr>
          <a:xfrm>
            <a:off x="10496371" y="2009180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685842" y="2746177"/>
            <a:ext cx="29236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Yahoo's Contribution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685842" y="3236595"/>
            <a:ext cx="589347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Yahoo open-sourced Hadoop in 2008, naming it after the creator's son's toy elephant, making it widely accessible.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5119092"/>
            <a:ext cx="6407944" cy="121920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540" y="4809411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4950BC"/>
          </a:solidFill>
          <a:ln/>
        </p:spPr>
      </p:sp>
      <p:sp>
        <p:nvSpPr>
          <p:cNvPr id="15" name="Text 13"/>
          <p:cNvSpPr/>
          <p:nvPr/>
        </p:nvSpPr>
        <p:spPr>
          <a:xfrm>
            <a:off x="3861614" y="4979551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051084" y="5716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Modules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51084" y="6206966"/>
            <a:ext cx="589335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components include HDFS (storage), YARN (resource management), MapReduce (processing), and Hadoop Common (utilities).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7428548" y="5119092"/>
            <a:ext cx="6408063" cy="121920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19" name="Shape 17"/>
          <p:cNvSpPr/>
          <p:nvPr/>
        </p:nvSpPr>
        <p:spPr>
          <a:xfrm>
            <a:off x="10292298" y="4809411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4950BC"/>
          </a:solidFill>
          <a:ln/>
        </p:spPr>
      </p:sp>
      <p:sp>
        <p:nvSpPr>
          <p:cNvPr id="20" name="Text 18"/>
          <p:cNvSpPr/>
          <p:nvPr/>
        </p:nvSpPr>
        <p:spPr>
          <a:xfrm>
            <a:off x="10496371" y="4979551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7685842" y="5716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Petabyte Scale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685842" y="6206966"/>
            <a:ext cx="589347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Hadoop efficiently handles structured, semi-structured, and unstructured data, scaling to petabytes of information.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894999"/>
            <a:ext cx="692146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Pop Quiz: Hadoop Basics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943939"/>
            <a:ext cx="7556421" cy="3390543"/>
          </a:xfrm>
          <a:prstGeom prst="roundRect">
            <a:avLst>
              <a:gd name="adj" fmla="val 2810"/>
            </a:avLst>
          </a:prstGeom>
          <a:solidFill>
            <a:srgbClr val="D9D9D9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604" y="3288030"/>
            <a:ext cx="283488" cy="22681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30906" y="3227427"/>
            <a:ext cx="65924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programming language is Hadoop primarily based on?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1530906" y="4157305"/>
            <a:ext cx="65924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 the four main Hadoop modules.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1530906" y="4724281"/>
            <a:ext cx="65924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the primary storage component of Hadoop?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1530906" y="5291257"/>
            <a:ext cx="65924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True or False: Hadoop requires expensive, specialized hardware.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3787" y="608171"/>
            <a:ext cx="8815507" cy="690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Hadoop Ecosystem Components</a:t>
            </a:r>
            <a:endParaRPr lang="en-US" sz="4350" dirty="0"/>
          </a:p>
        </p:txBody>
      </p:sp>
      <p:sp>
        <p:nvSpPr>
          <p:cNvPr id="3" name="Shape 1"/>
          <p:cNvSpPr/>
          <p:nvPr/>
        </p:nvSpPr>
        <p:spPr>
          <a:xfrm>
            <a:off x="773787" y="1741051"/>
            <a:ext cx="6430923" cy="2351603"/>
          </a:xfrm>
          <a:prstGeom prst="roundRect">
            <a:avLst>
              <a:gd name="adj" fmla="val 3949"/>
            </a:avLst>
          </a:prstGeom>
          <a:noFill/>
          <a:ln w="30480">
            <a:solidFill>
              <a:srgbClr val="C0C1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267" y="1771531"/>
            <a:ext cx="6369963" cy="663178"/>
          </a:xfrm>
          <a:prstGeom prst="roundRect">
            <a:avLst>
              <a:gd name="adj" fmla="val 8487"/>
            </a:avLst>
          </a:prstGeom>
          <a:solidFill>
            <a:srgbClr val="DADBF1"/>
          </a:solidFill>
          <a:ln/>
        </p:spPr>
      </p:sp>
      <p:sp>
        <p:nvSpPr>
          <p:cNvPr id="5" name="Text 3"/>
          <p:cNvSpPr/>
          <p:nvPr/>
        </p:nvSpPr>
        <p:spPr>
          <a:xfrm>
            <a:off x="3823454" y="1892022"/>
            <a:ext cx="331589" cy="414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25247" y="2655689"/>
            <a:ext cx="2763679" cy="345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HDFS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1025247" y="3133725"/>
            <a:ext cx="5928003" cy="707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Distributed file system for storing data across nodes with built-in fault tolerance.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425690" y="1741051"/>
            <a:ext cx="6430923" cy="2351603"/>
          </a:xfrm>
          <a:prstGeom prst="roundRect">
            <a:avLst>
              <a:gd name="adj" fmla="val 3949"/>
            </a:avLst>
          </a:prstGeom>
          <a:noFill/>
          <a:ln w="30480">
            <a:solidFill>
              <a:srgbClr val="C0C1D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56170" y="1771531"/>
            <a:ext cx="6369963" cy="663178"/>
          </a:xfrm>
          <a:prstGeom prst="roundRect">
            <a:avLst>
              <a:gd name="adj" fmla="val 8487"/>
            </a:avLst>
          </a:prstGeom>
          <a:solidFill>
            <a:srgbClr val="DADBF1"/>
          </a:solidFill>
          <a:ln/>
        </p:spPr>
      </p:sp>
      <p:sp>
        <p:nvSpPr>
          <p:cNvPr id="10" name="Text 8"/>
          <p:cNvSpPr/>
          <p:nvPr/>
        </p:nvSpPr>
        <p:spPr>
          <a:xfrm>
            <a:off x="10475357" y="1892022"/>
            <a:ext cx="331589" cy="414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677150" y="2655689"/>
            <a:ext cx="2763679" cy="345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YARN</a:t>
            </a:r>
            <a:endParaRPr lang="en-US" sz="2150" dirty="0"/>
          </a:p>
        </p:txBody>
      </p:sp>
      <p:sp>
        <p:nvSpPr>
          <p:cNvPr id="12" name="Text 10"/>
          <p:cNvSpPr/>
          <p:nvPr/>
        </p:nvSpPr>
        <p:spPr>
          <a:xfrm>
            <a:off x="7677150" y="3133725"/>
            <a:ext cx="5928003" cy="707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Resource manager responsible for scheduling and allocating cluster resources efficiently.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73787" y="4313634"/>
            <a:ext cx="6430923" cy="2351603"/>
          </a:xfrm>
          <a:prstGeom prst="roundRect">
            <a:avLst>
              <a:gd name="adj" fmla="val 3949"/>
            </a:avLst>
          </a:prstGeom>
          <a:noFill/>
          <a:ln w="30480">
            <a:solidFill>
              <a:srgbClr val="C0C1D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267" y="4344114"/>
            <a:ext cx="6369963" cy="663178"/>
          </a:xfrm>
          <a:prstGeom prst="roundRect">
            <a:avLst>
              <a:gd name="adj" fmla="val 8487"/>
            </a:avLst>
          </a:prstGeom>
          <a:solidFill>
            <a:srgbClr val="DADBF1"/>
          </a:solidFill>
          <a:ln/>
        </p:spPr>
      </p:sp>
      <p:sp>
        <p:nvSpPr>
          <p:cNvPr id="15" name="Text 13"/>
          <p:cNvSpPr/>
          <p:nvPr/>
        </p:nvSpPr>
        <p:spPr>
          <a:xfrm>
            <a:off x="3823454" y="4464606"/>
            <a:ext cx="331589" cy="414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025247" y="5228273"/>
            <a:ext cx="2763679" cy="345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MapReduce</a:t>
            </a:r>
            <a:endParaRPr lang="en-US" sz="2150" dirty="0"/>
          </a:p>
        </p:txBody>
      </p:sp>
      <p:sp>
        <p:nvSpPr>
          <p:cNvPr id="17" name="Text 15"/>
          <p:cNvSpPr/>
          <p:nvPr/>
        </p:nvSpPr>
        <p:spPr>
          <a:xfrm>
            <a:off x="1025247" y="5706308"/>
            <a:ext cx="5928003" cy="707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programming model for processing large datasets with a parallel, distributed algorithm.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425690" y="4313634"/>
            <a:ext cx="6430923" cy="2351603"/>
          </a:xfrm>
          <a:prstGeom prst="roundRect">
            <a:avLst>
              <a:gd name="adj" fmla="val 3949"/>
            </a:avLst>
          </a:prstGeom>
          <a:noFill/>
          <a:ln w="30480">
            <a:solidFill>
              <a:srgbClr val="C0C1D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56170" y="4344114"/>
            <a:ext cx="6369963" cy="663178"/>
          </a:xfrm>
          <a:prstGeom prst="roundRect">
            <a:avLst>
              <a:gd name="adj" fmla="val 8487"/>
            </a:avLst>
          </a:prstGeom>
          <a:solidFill>
            <a:srgbClr val="DADBF1"/>
          </a:solidFill>
          <a:ln/>
        </p:spPr>
      </p:sp>
      <p:sp>
        <p:nvSpPr>
          <p:cNvPr id="20" name="Text 18"/>
          <p:cNvSpPr/>
          <p:nvPr/>
        </p:nvSpPr>
        <p:spPr>
          <a:xfrm>
            <a:off x="10475357" y="4464606"/>
            <a:ext cx="331589" cy="414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677150" y="5228273"/>
            <a:ext cx="2763679" cy="345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Hadoop Common</a:t>
            </a:r>
            <a:endParaRPr lang="en-US" sz="2150" dirty="0"/>
          </a:p>
        </p:txBody>
      </p:sp>
      <p:sp>
        <p:nvSpPr>
          <p:cNvPr id="22" name="Text 20"/>
          <p:cNvSpPr/>
          <p:nvPr/>
        </p:nvSpPr>
        <p:spPr>
          <a:xfrm>
            <a:off x="7677150" y="5706308"/>
            <a:ext cx="5928003" cy="707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Provides shared utilities and libraries supporting other Hadoop modules.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73787" y="6913959"/>
            <a:ext cx="13082826" cy="707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Additional powerful tools like Hive, Pig, HBase, Spark, Presto, and Zeppelin extend Hadoop's capabilities for diverse big data tasks.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54066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Quiz: Hadoop Ecosystem Tools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298388"/>
            <a:ext cx="7556421" cy="3390543"/>
          </a:xfrm>
          <a:prstGeom prst="roundRect">
            <a:avLst>
              <a:gd name="adj" fmla="val 2810"/>
            </a:avLst>
          </a:prstGeom>
          <a:solidFill>
            <a:srgbClr val="D9D9D9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604" y="3642479"/>
            <a:ext cx="283488" cy="22681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30906" y="3581876"/>
            <a:ext cx="65924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component manages compute resources?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(YARN)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1530906" y="4148852"/>
            <a:ext cx="65924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tool provides SQL-like querying for Hadoop?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(Hive)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1530906" y="4715828"/>
            <a:ext cx="65924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Apache Spark primarily used for?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(Fast in-memory data processing)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1530906" y="5645706"/>
            <a:ext cx="65924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 a NoSQL database commonly used within the Hadoop ecosystem.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(HBase)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1176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Takeaways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1974175"/>
            <a:ext cx="1134070" cy="13608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54674" y="2200989"/>
            <a:ext cx="315908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Distributed Processing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154674" y="2691408"/>
            <a:ext cx="116819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Hadoop enables distributed and parallel processing of massive Big Data datasets.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3335060"/>
            <a:ext cx="1134070" cy="13608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154674" y="3561874"/>
            <a:ext cx="317551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Scalable Infrastructure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2154674" y="4052292"/>
            <a:ext cx="116819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scales efficiently from a single server to thousands of commodity machines.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695944"/>
            <a:ext cx="1134070" cy="136088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154674" y="49227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Fault Tolerant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2154674" y="5413177"/>
            <a:ext cx="116819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Hadoop automatically handles hardware failures, ensuring data integrity and availability.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6056828"/>
            <a:ext cx="1134070" cy="136088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154674" y="62836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Diverse Analytics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2154674" y="6774061"/>
            <a:ext cx="116819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supports various data types and large-scale analytics workloads for deep insights.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7568" y="430173"/>
            <a:ext cx="9804083" cy="488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Introduction to HDFS Architecture and Components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547568" y="1294448"/>
            <a:ext cx="6576774" cy="500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HDFS (Hadoop Distributed File System) is designed for reliable storage of very large files across machines in a cluster.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7568" y="1935718"/>
            <a:ext cx="6576774" cy="500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Blocks:</a:t>
            </a:r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HDFS stores data in default 128MB blocks, distributed across multiple DataNodes.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7568" y="2490907"/>
            <a:ext cx="6576774" cy="500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NameNode:</a:t>
            </a:r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master node manages the file system namespace and metadata (e.g., file permissions, block locations).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7568" y="3046095"/>
            <a:ext cx="6576774" cy="500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DataNodes:</a:t>
            </a:r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Worker nodes that store the actual data blocks and perform read/write operations.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3677" y="1329690"/>
            <a:ext cx="6576774" cy="657677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7568" y="8258413"/>
            <a:ext cx="13535263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Secondary NameNode:</a:t>
            </a:r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Performs checkpointing of NameNode metadata, preventing data loss in case of a NameNode failure.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7568" y="8684657"/>
            <a:ext cx="13535263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Replication:</a:t>
            </a:r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By default, HDFS maintains 3 copies of each data block, ensuring high availability and fault tolerance.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62983"/>
            <a:ext cx="700087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Summary and Next Steps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125391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Hadoop Foundation: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It is a cornerstone for modern Big Data processing, enabling efficient handling of massive datasets.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930491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Ecosystem Power: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rich ecosystem of tools extends Hadoop’s capabilities for advanced analytics and diverse storage needs.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735592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HDFS Mastery: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Understanding HDFS architecture is crucial for effective data management and reliability within Hadoop.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540693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Our next session will deep dive into YARN for resource management and MapReduce for understanding job execution and parallel processing.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2025-07-16T07:36:43Z</dcterms:created>
  <dcterms:modified xsi:type="dcterms:W3CDTF">2025-07-16T07:36:43Z</dcterms:modified>
</cp:coreProperties>
</file>