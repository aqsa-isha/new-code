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4630400" cy="8229600"/>
  <p:notesSz cx="8229600" cy="14630400"/>
  <p:embeddedFontLst>
    <p:embeddedFont>
      <p:font typeface="Fraunces Extra Bold"/>
      <p:regular r:id="rId15"/>
    </p:embeddedFont>
    <p:embeddedFont>
      <p:font typeface="Fraunces Extra Bold"/>
      <p:regular r:id="rId16"/>
    </p:embeddedFont>
    <p:embeddedFont>
      <p:font typeface="Nobile"/>
      <p:regular r:id="rId17"/>
    </p:embeddedFont>
    <p:embeddedFont>
      <p:font typeface="Nobile"/>
      <p:regular r:id="rId18"/>
    </p:embeddedFont>
    <p:embeddedFont>
      <p:font typeface="Nobile"/>
      <p:regular r:id="rId19"/>
    </p:embeddedFont>
    <p:embeddedFont>
      <p:font typeface="Nobile"/>
      <p:regular r:id="rId20"/>
    </p:embeddedFont>
  </p:embeddedFon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 Id="rId15" Type="http://schemas.openxmlformats.org/officeDocument/2006/relationships/font" Target="fonts/font1.fntdata"/><Relationship Id="rId16" Type="http://schemas.openxmlformats.org/officeDocument/2006/relationships/font" Target="fonts/font2.fntdata"/><Relationship Id="rId17" Type="http://schemas.openxmlformats.org/officeDocument/2006/relationships/font" Target="fonts/font3.fntdata"/><Relationship Id="rId18" Type="http://schemas.openxmlformats.org/officeDocument/2006/relationships/font" Target="fonts/font4.fntdata"/><Relationship Id="rId19" Type="http://schemas.openxmlformats.org/officeDocument/2006/relationships/font" Target="fonts/font5.fntdata"/><Relationship Id="rId20" Type="http://schemas.openxmlformats.org/officeDocument/2006/relationships/font" Target="fonts/font6.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2-1.png"/><Relationship Id="rId3"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3-1.png"/><Relationship Id="rId3"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4-1.png"/><Relationship Id="rId3"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5-1.png"/><Relationship Id="rId3"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6-1.png"/><Relationship Id="rId3"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7-1.png"/><Relationship Id="rId3"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8-1.png"/><Relationship Id="rId3"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9-1.png"/><Relationship Id="rId3"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EEEE1"/>
          </a:solidFill>
          <a:ln/>
        </p:spPr>
      </p:sp>
      <p:sp>
        <p:nvSpPr>
          <p:cNvPr id="3" name="Shape 1"/>
          <p:cNvSpPr/>
          <p:nvPr/>
        </p:nvSpPr>
        <p:spPr>
          <a:xfrm>
            <a:off x="0" y="0"/>
            <a:ext cx="14630400" cy="8229600"/>
          </a:xfrm>
          <a:prstGeom prst="rect">
            <a:avLst/>
          </a:prstGeom>
          <a:solidFill>
            <a:srgbClr val="FAFFFA"/>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EEEE1"/>
          </a:solidFill>
          <a:ln/>
        </p:spPr>
      </p:sp>
      <p:sp>
        <p:nvSpPr>
          <p:cNvPr id="3" name="Shape 1"/>
          <p:cNvSpPr/>
          <p:nvPr/>
        </p:nvSpPr>
        <p:spPr>
          <a:xfrm>
            <a:off x="0" y="0"/>
            <a:ext cx="14630400" cy="8229600"/>
          </a:xfrm>
          <a:prstGeom prst="rect">
            <a:avLst/>
          </a:prstGeom>
          <a:solidFill>
            <a:srgbClr val="FAFFFA"/>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EEEE1"/>
          </a:solidFill>
          <a:ln/>
        </p:spPr>
      </p:sp>
      <p:sp>
        <p:nvSpPr>
          <p:cNvPr id="3" name="Shape 1"/>
          <p:cNvSpPr/>
          <p:nvPr/>
        </p:nvSpPr>
        <p:spPr>
          <a:xfrm>
            <a:off x="0" y="0"/>
            <a:ext cx="14630400" cy="8229600"/>
          </a:xfrm>
          <a:prstGeom prst="rect">
            <a:avLst/>
          </a:prstGeom>
          <a:solidFill>
            <a:srgbClr val="FAFFFA"/>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EEEE1"/>
          </a:solidFill>
          <a:ln/>
        </p:spPr>
      </p:sp>
      <p:sp>
        <p:nvSpPr>
          <p:cNvPr id="3" name="Shape 1"/>
          <p:cNvSpPr/>
          <p:nvPr/>
        </p:nvSpPr>
        <p:spPr>
          <a:xfrm>
            <a:off x="0" y="0"/>
            <a:ext cx="14630400" cy="8229600"/>
          </a:xfrm>
          <a:prstGeom prst="rect">
            <a:avLst/>
          </a:prstGeom>
          <a:solidFill>
            <a:srgbClr val="FAFFFA"/>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EEEE1"/>
          </a:solidFill>
          <a:ln/>
        </p:spPr>
      </p:sp>
      <p:sp>
        <p:nvSpPr>
          <p:cNvPr id="3" name="Shape 1"/>
          <p:cNvSpPr/>
          <p:nvPr/>
        </p:nvSpPr>
        <p:spPr>
          <a:xfrm>
            <a:off x="0" y="0"/>
            <a:ext cx="14630400" cy="8229600"/>
          </a:xfrm>
          <a:prstGeom prst="rect">
            <a:avLst/>
          </a:prstGeom>
          <a:solidFill>
            <a:srgbClr val="FAFFFA"/>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EEEE1"/>
          </a:solidFill>
          <a:ln/>
        </p:spPr>
      </p:sp>
      <p:sp>
        <p:nvSpPr>
          <p:cNvPr id="3" name="Shape 1"/>
          <p:cNvSpPr/>
          <p:nvPr/>
        </p:nvSpPr>
        <p:spPr>
          <a:xfrm>
            <a:off x="0" y="0"/>
            <a:ext cx="14630400" cy="8229600"/>
          </a:xfrm>
          <a:prstGeom prst="rect">
            <a:avLst/>
          </a:prstGeom>
          <a:solidFill>
            <a:srgbClr val="FAFFFA"/>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EEEE1"/>
          </a:solidFill>
          <a:ln/>
        </p:spPr>
      </p:sp>
      <p:sp>
        <p:nvSpPr>
          <p:cNvPr id="3" name="Shape 1"/>
          <p:cNvSpPr/>
          <p:nvPr/>
        </p:nvSpPr>
        <p:spPr>
          <a:xfrm>
            <a:off x="0" y="0"/>
            <a:ext cx="14630400" cy="8229600"/>
          </a:xfrm>
          <a:prstGeom prst="rect">
            <a:avLst/>
          </a:prstGeom>
          <a:solidFill>
            <a:srgbClr val="FAFFFA"/>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EEEE1"/>
          </a:solidFill>
          <a:ln/>
        </p:spPr>
      </p:sp>
      <p:sp>
        <p:nvSpPr>
          <p:cNvPr id="3" name="Shape 1"/>
          <p:cNvSpPr/>
          <p:nvPr/>
        </p:nvSpPr>
        <p:spPr>
          <a:xfrm>
            <a:off x="0" y="0"/>
            <a:ext cx="14630400" cy="8229600"/>
          </a:xfrm>
          <a:prstGeom prst="rect">
            <a:avLst/>
          </a:prstGeom>
          <a:solidFill>
            <a:srgbClr val="FAFFFA"/>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4.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5.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7.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8.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5486400" cy="8229600"/>
          </a:xfrm>
          <a:prstGeom prst="rect">
            <a:avLst/>
          </a:prstGeom>
        </p:spPr>
      </p:pic>
      <p:sp>
        <p:nvSpPr>
          <p:cNvPr id="3" name="Text 0"/>
          <p:cNvSpPr/>
          <p:nvPr/>
        </p:nvSpPr>
        <p:spPr>
          <a:xfrm>
            <a:off x="6280190" y="2510076"/>
            <a:ext cx="7556421" cy="1417558"/>
          </a:xfrm>
          <a:prstGeom prst="rect">
            <a:avLst/>
          </a:prstGeom>
          <a:noFill/>
          <a:ln/>
        </p:spPr>
        <p:txBody>
          <a:bodyPr wrap="square" lIns="0" tIns="0" rIns="0" bIns="0" rtlCol="0" anchor="t"/>
          <a:lstStyle/>
          <a:p>
            <a:pPr algn="l" indent="0" marL="0">
              <a:lnSpc>
                <a:spcPts val="5550"/>
              </a:lnSpc>
              <a:buNone/>
            </a:pPr>
            <a:r>
              <a:rPr lang="en-US" sz="4450" b="1" dirty="0">
                <a:solidFill>
                  <a:srgbClr val="3B4540"/>
                </a:solidFill>
                <a:latin typeface="Fraunces Extra Bold" pitchFamily="34" charset="0"/>
                <a:ea typeface="Fraunces Extra Bold" pitchFamily="34" charset="-122"/>
                <a:cs typeface="Fraunces Extra Bold" pitchFamily="34" charset="-120"/>
              </a:rPr>
              <a:t>PySpark: Scaling Data Processing for the Future</a:t>
            </a:r>
            <a:endParaRPr lang="en-US" sz="4450" dirty="0"/>
          </a:p>
        </p:txBody>
      </p:sp>
      <p:sp>
        <p:nvSpPr>
          <p:cNvPr id="4" name="Text 1"/>
          <p:cNvSpPr/>
          <p:nvPr/>
        </p:nvSpPr>
        <p:spPr>
          <a:xfrm>
            <a:off x="6280190" y="4267795"/>
            <a:ext cx="7556421" cy="1451610"/>
          </a:xfrm>
          <a:prstGeom prst="rect">
            <a:avLst/>
          </a:prstGeom>
          <a:noFill/>
          <a:ln/>
        </p:spPr>
        <p:txBody>
          <a:bodyPr wrap="square" lIns="0" tIns="0" rIns="0" bIns="0" rtlCol="0" anchor="t"/>
          <a:lstStyle/>
          <a:p>
            <a:pPr algn="l" indent="0" marL="0">
              <a:lnSpc>
                <a:spcPts val="2850"/>
              </a:lnSpc>
              <a:buNone/>
            </a:pPr>
            <a:r>
              <a:rPr lang="en-US" sz="1750" dirty="0">
                <a:solidFill>
                  <a:srgbClr val="405449"/>
                </a:solidFill>
                <a:latin typeface="Nobile" pitchFamily="34" charset="0"/>
                <a:ea typeface="Nobile" pitchFamily="34" charset="-122"/>
                <a:cs typeface="Nobile" pitchFamily="34" charset="-120"/>
              </a:rPr>
              <a:t>Explore the evolution of data processing from centralized to distributed systems, and understand how PySpark empowers engineers and data scientists to tackle the challenges of big data with efficiency and scalability.</a:t>
            </a:r>
            <a:endParaRPr lang="en-US" sz="17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793790" y="1288613"/>
            <a:ext cx="6982658" cy="708779"/>
          </a:xfrm>
          <a:prstGeom prst="rect">
            <a:avLst/>
          </a:prstGeom>
          <a:noFill/>
          <a:ln/>
        </p:spPr>
        <p:txBody>
          <a:bodyPr wrap="none" lIns="0" tIns="0" rIns="0" bIns="0" rtlCol="0" anchor="t"/>
          <a:lstStyle/>
          <a:p>
            <a:pPr algn="l" indent="0" marL="0">
              <a:lnSpc>
                <a:spcPts val="5550"/>
              </a:lnSpc>
              <a:buNone/>
            </a:pPr>
            <a:r>
              <a:rPr lang="en-US" sz="4450" b="1" dirty="0">
                <a:solidFill>
                  <a:srgbClr val="3B4540"/>
                </a:solidFill>
                <a:latin typeface="Fraunces Extra Bold" pitchFamily="34" charset="0"/>
                <a:ea typeface="Fraunces Extra Bold" pitchFamily="34" charset="-122"/>
                <a:cs typeface="Fraunces Extra Bold" pitchFamily="34" charset="-120"/>
              </a:rPr>
              <a:t>The Big Data Revolution</a:t>
            </a:r>
            <a:endParaRPr lang="en-US" sz="4450" dirty="0"/>
          </a:p>
        </p:txBody>
      </p:sp>
      <p:sp>
        <p:nvSpPr>
          <p:cNvPr id="3" name="Text 1"/>
          <p:cNvSpPr/>
          <p:nvPr/>
        </p:nvSpPr>
        <p:spPr>
          <a:xfrm>
            <a:off x="1133951" y="2706172"/>
            <a:ext cx="12702659" cy="362903"/>
          </a:xfrm>
          <a:prstGeom prst="rect">
            <a:avLst/>
          </a:prstGeom>
          <a:noFill/>
          <a:ln/>
        </p:spPr>
        <p:txBody>
          <a:bodyPr wrap="none" lIns="0" tIns="0" rIns="0" bIns="0" rtlCol="0" anchor="t"/>
          <a:lstStyle/>
          <a:p>
            <a:pPr algn="l" indent="0" marL="0">
              <a:lnSpc>
                <a:spcPts val="2850"/>
              </a:lnSpc>
              <a:buNone/>
            </a:pPr>
            <a:r>
              <a:rPr lang="en-US" sz="1750" dirty="0">
                <a:solidFill>
                  <a:srgbClr val="405449"/>
                </a:solidFill>
                <a:latin typeface="Nobile" pitchFamily="34" charset="0"/>
                <a:ea typeface="Nobile" pitchFamily="34" charset="-122"/>
                <a:cs typeface="Nobile" pitchFamily="34" charset="-120"/>
              </a:rPr>
              <a:t>It's estimated that digital data will increase by </a:t>
            </a:r>
            <a:pPr algn="l" indent="0" marL="0">
              <a:lnSpc>
                <a:spcPts val="2850"/>
              </a:lnSpc>
              <a:buNone/>
            </a:pPr>
            <a:r>
              <a:rPr lang="en-US" sz="1750" b="1" dirty="0">
                <a:solidFill>
                  <a:srgbClr val="405449"/>
                </a:solidFill>
                <a:latin typeface="Nobile" pitchFamily="34" charset="0"/>
                <a:ea typeface="Nobile" pitchFamily="34" charset="-122"/>
                <a:cs typeface="Nobile" pitchFamily="34" charset="-120"/>
              </a:rPr>
              <a:t>30 times</a:t>
            </a:r>
            <a:pPr algn="l" indent="0" marL="0">
              <a:lnSpc>
                <a:spcPts val="2850"/>
              </a:lnSpc>
              <a:buNone/>
            </a:pPr>
            <a:r>
              <a:rPr lang="en-US" sz="1750" dirty="0">
                <a:solidFill>
                  <a:srgbClr val="405449"/>
                </a:solidFill>
                <a:latin typeface="Nobile" pitchFamily="34" charset="0"/>
                <a:ea typeface="Nobile" pitchFamily="34" charset="-122"/>
                <a:cs typeface="Nobile" pitchFamily="34" charset="-120"/>
              </a:rPr>
              <a:t> in the next 10 years. Traditional systems can't keep up.</a:t>
            </a:r>
            <a:endParaRPr lang="en-US" sz="1750" dirty="0"/>
          </a:p>
        </p:txBody>
      </p:sp>
      <p:sp>
        <p:nvSpPr>
          <p:cNvPr id="4" name="Shape 2"/>
          <p:cNvSpPr/>
          <p:nvPr/>
        </p:nvSpPr>
        <p:spPr>
          <a:xfrm>
            <a:off x="793790" y="2451021"/>
            <a:ext cx="30480" cy="873204"/>
          </a:xfrm>
          <a:prstGeom prst="rect">
            <a:avLst/>
          </a:prstGeom>
          <a:solidFill>
            <a:srgbClr val="438951"/>
          </a:solidFill>
          <a:ln/>
        </p:spPr>
      </p:sp>
      <p:sp>
        <p:nvSpPr>
          <p:cNvPr id="5" name="Text 3"/>
          <p:cNvSpPr/>
          <p:nvPr/>
        </p:nvSpPr>
        <p:spPr>
          <a:xfrm>
            <a:off x="793790" y="3579376"/>
            <a:ext cx="13042821" cy="725805"/>
          </a:xfrm>
          <a:prstGeom prst="rect">
            <a:avLst/>
          </a:prstGeom>
          <a:noFill/>
          <a:ln/>
        </p:spPr>
        <p:txBody>
          <a:bodyPr wrap="square" lIns="0" tIns="0" rIns="0" bIns="0" rtlCol="0" anchor="t"/>
          <a:lstStyle/>
          <a:p>
            <a:pPr algn="l" indent="0" marL="0">
              <a:lnSpc>
                <a:spcPts val="2850"/>
              </a:lnSpc>
              <a:buNone/>
            </a:pPr>
            <a:r>
              <a:rPr lang="en-US" sz="1750" b="1" dirty="0">
                <a:solidFill>
                  <a:srgbClr val="405449"/>
                </a:solidFill>
                <a:latin typeface="Nobile" pitchFamily="34" charset="0"/>
                <a:ea typeface="Nobile" pitchFamily="34" charset="-122"/>
                <a:cs typeface="Nobile" pitchFamily="34" charset="-120"/>
              </a:rPr>
              <a:t>Big Data</a:t>
            </a:r>
            <a:pPr algn="l" indent="0" marL="0">
              <a:lnSpc>
                <a:spcPts val="2850"/>
              </a:lnSpc>
              <a:buNone/>
            </a:pPr>
            <a:r>
              <a:rPr lang="en-US" sz="1750" dirty="0">
                <a:solidFill>
                  <a:srgbClr val="405449"/>
                </a:solidFill>
                <a:latin typeface="Nobile" pitchFamily="34" charset="0"/>
                <a:ea typeface="Nobile" pitchFamily="34" charset="-122"/>
                <a:cs typeface="Nobile" pitchFamily="34" charset="-120"/>
              </a:rPr>
              <a:t> refers to extracting meaningful insights by analyzing massive volumes of raw, varied data that traditional database systems struggle to handle. The sheer scale and complexity present significant challenges.</a:t>
            </a:r>
            <a:endParaRPr lang="en-US" sz="1750" dirty="0"/>
          </a:p>
        </p:txBody>
      </p:sp>
      <p:sp>
        <p:nvSpPr>
          <p:cNvPr id="6" name="Shape 4"/>
          <p:cNvSpPr/>
          <p:nvPr/>
        </p:nvSpPr>
        <p:spPr>
          <a:xfrm>
            <a:off x="793790" y="4870013"/>
            <a:ext cx="6407944" cy="121920"/>
          </a:xfrm>
          <a:prstGeom prst="roundRect">
            <a:avLst>
              <a:gd name="adj" fmla="val 167442"/>
            </a:avLst>
          </a:prstGeom>
          <a:solidFill>
            <a:srgbClr val="438951"/>
          </a:solidFill>
          <a:ln/>
        </p:spPr>
      </p:sp>
      <p:sp>
        <p:nvSpPr>
          <p:cNvPr id="7" name="Shape 5"/>
          <p:cNvSpPr/>
          <p:nvPr/>
        </p:nvSpPr>
        <p:spPr>
          <a:xfrm>
            <a:off x="3657540" y="4560332"/>
            <a:ext cx="680442" cy="680442"/>
          </a:xfrm>
          <a:prstGeom prst="roundRect">
            <a:avLst>
              <a:gd name="adj" fmla="val 134383"/>
            </a:avLst>
          </a:prstGeom>
          <a:solidFill>
            <a:srgbClr val="438951"/>
          </a:solidFill>
          <a:ln/>
        </p:spPr>
      </p:sp>
      <p:sp>
        <p:nvSpPr>
          <p:cNvPr id="8" name="Text 6"/>
          <p:cNvSpPr/>
          <p:nvPr/>
        </p:nvSpPr>
        <p:spPr>
          <a:xfrm>
            <a:off x="3861614" y="4730472"/>
            <a:ext cx="272177" cy="340162"/>
          </a:xfrm>
          <a:prstGeom prst="rect">
            <a:avLst/>
          </a:prstGeom>
          <a:noFill/>
          <a:ln/>
        </p:spPr>
        <p:txBody>
          <a:bodyPr wrap="none" lIns="0" tIns="0" rIns="0" bIns="0" rtlCol="0" anchor="t"/>
          <a:lstStyle/>
          <a:p>
            <a:pPr algn="l" indent="0" marL="0">
              <a:lnSpc>
                <a:spcPts val="3400"/>
              </a:lnSpc>
              <a:buNone/>
            </a:pPr>
            <a:r>
              <a:rPr lang="en-US" sz="2100" b="1" dirty="0">
                <a:solidFill>
                  <a:srgbClr val="FFFFFF"/>
                </a:solidFill>
                <a:latin typeface="Fraunces Extra Bold" pitchFamily="34" charset="0"/>
                <a:ea typeface="Fraunces Extra Bold" pitchFamily="34" charset="-122"/>
                <a:cs typeface="Fraunces Extra Bold" pitchFamily="34" charset="-120"/>
              </a:rPr>
              <a:t>1</a:t>
            </a:r>
            <a:endParaRPr lang="en-US" sz="2100" dirty="0"/>
          </a:p>
        </p:txBody>
      </p:sp>
      <p:sp>
        <p:nvSpPr>
          <p:cNvPr id="9" name="Text 7"/>
          <p:cNvSpPr/>
          <p:nvPr/>
        </p:nvSpPr>
        <p:spPr>
          <a:xfrm>
            <a:off x="1051084" y="5467469"/>
            <a:ext cx="2835235" cy="354330"/>
          </a:xfrm>
          <a:prstGeom prst="rect">
            <a:avLst/>
          </a:prstGeom>
          <a:noFill/>
          <a:ln/>
        </p:spPr>
        <p:txBody>
          <a:bodyPr wrap="none" lIns="0" tIns="0" rIns="0" bIns="0" rtlCol="0" anchor="t"/>
          <a:lstStyle/>
          <a:p>
            <a:pPr algn="l" indent="0" marL="0">
              <a:lnSpc>
                <a:spcPts val="2750"/>
              </a:lnSpc>
              <a:buNone/>
            </a:pPr>
            <a:r>
              <a:rPr lang="en-US" sz="2200" b="1" dirty="0">
                <a:solidFill>
                  <a:srgbClr val="405449"/>
                </a:solidFill>
                <a:latin typeface="Fraunces Extra Bold" pitchFamily="34" charset="0"/>
                <a:ea typeface="Fraunces Extra Bold" pitchFamily="34" charset="-122"/>
                <a:cs typeface="Fraunces Extra Bold" pitchFamily="34" charset="-120"/>
              </a:rPr>
              <a:t>Storage Problem</a:t>
            </a:r>
            <a:endParaRPr lang="en-US" sz="2200" dirty="0"/>
          </a:p>
        </p:txBody>
      </p:sp>
      <p:sp>
        <p:nvSpPr>
          <p:cNvPr id="10" name="Text 8"/>
          <p:cNvSpPr/>
          <p:nvPr/>
        </p:nvSpPr>
        <p:spPr>
          <a:xfrm>
            <a:off x="1051084" y="5957887"/>
            <a:ext cx="5893356" cy="725805"/>
          </a:xfrm>
          <a:prstGeom prst="rect">
            <a:avLst/>
          </a:prstGeom>
          <a:noFill/>
          <a:ln/>
        </p:spPr>
        <p:txBody>
          <a:bodyPr wrap="square" lIns="0" tIns="0" rIns="0" bIns="0" rtlCol="0" anchor="t"/>
          <a:lstStyle/>
          <a:p>
            <a:pPr algn="l" indent="0" marL="0">
              <a:lnSpc>
                <a:spcPts val="2850"/>
              </a:lnSpc>
              <a:buNone/>
            </a:pPr>
            <a:r>
              <a:rPr lang="en-US" sz="1750" dirty="0">
                <a:solidFill>
                  <a:srgbClr val="405449"/>
                </a:solidFill>
                <a:latin typeface="Nobile" pitchFamily="34" charset="0"/>
                <a:ea typeface="Nobile" pitchFamily="34" charset="-122"/>
                <a:cs typeface="Nobile" pitchFamily="34" charset="-120"/>
              </a:rPr>
              <a:t>How do we store petabytes or even exabytes of data cost-effectively?</a:t>
            </a:r>
            <a:endParaRPr lang="en-US" sz="1750" dirty="0"/>
          </a:p>
        </p:txBody>
      </p:sp>
      <p:sp>
        <p:nvSpPr>
          <p:cNvPr id="11" name="Shape 9"/>
          <p:cNvSpPr/>
          <p:nvPr/>
        </p:nvSpPr>
        <p:spPr>
          <a:xfrm>
            <a:off x="7428548" y="4870013"/>
            <a:ext cx="6408063" cy="121920"/>
          </a:xfrm>
          <a:prstGeom prst="roundRect">
            <a:avLst>
              <a:gd name="adj" fmla="val 167442"/>
            </a:avLst>
          </a:prstGeom>
          <a:solidFill>
            <a:srgbClr val="438951"/>
          </a:solidFill>
          <a:ln/>
        </p:spPr>
      </p:sp>
      <p:sp>
        <p:nvSpPr>
          <p:cNvPr id="12" name="Shape 10"/>
          <p:cNvSpPr/>
          <p:nvPr/>
        </p:nvSpPr>
        <p:spPr>
          <a:xfrm>
            <a:off x="10292298" y="4560332"/>
            <a:ext cx="680442" cy="680442"/>
          </a:xfrm>
          <a:prstGeom prst="roundRect">
            <a:avLst>
              <a:gd name="adj" fmla="val 134383"/>
            </a:avLst>
          </a:prstGeom>
          <a:solidFill>
            <a:srgbClr val="438951"/>
          </a:solidFill>
          <a:ln/>
        </p:spPr>
      </p:sp>
      <p:sp>
        <p:nvSpPr>
          <p:cNvPr id="13" name="Text 11"/>
          <p:cNvSpPr/>
          <p:nvPr/>
        </p:nvSpPr>
        <p:spPr>
          <a:xfrm>
            <a:off x="10496371" y="4730472"/>
            <a:ext cx="272177" cy="340162"/>
          </a:xfrm>
          <a:prstGeom prst="rect">
            <a:avLst/>
          </a:prstGeom>
          <a:noFill/>
          <a:ln/>
        </p:spPr>
        <p:txBody>
          <a:bodyPr wrap="none" lIns="0" tIns="0" rIns="0" bIns="0" rtlCol="0" anchor="t"/>
          <a:lstStyle/>
          <a:p>
            <a:pPr algn="l" indent="0" marL="0">
              <a:lnSpc>
                <a:spcPts val="3400"/>
              </a:lnSpc>
              <a:buNone/>
            </a:pPr>
            <a:r>
              <a:rPr lang="en-US" sz="2100" b="1" dirty="0">
                <a:solidFill>
                  <a:srgbClr val="FFFFFF"/>
                </a:solidFill>
                <a:latin typeface="Fraunces Extra Bold" pitchFamily="34" charset="0"/>
                <a:ea typeface="Fraunces Extra Bold" pitchFamily="34" charset="-122"/>
                <a:cs typeface="Fraunces Extra Bold" pitchFamily="34" charset="-120"/>
              </a:rPr>
              <a:t>2</a:t>
            </a:r>
            <a:endParaRPr lang="en-US" sz="2100" dirty="0"/>
          </a:p>
        </p:txBody>
      </p:sp>
      <p:sp>
        <p:nvSpPr>
          <p:cNvPr id="14" name="Text 12"/>
          <p:cNvSpPr/>
          <p:nvPr/>
        </p:nvSpPr>
        <p:spPr>
          <a:xfrm>
            <a:off x="7685842" y="5467469"/>
            <a:ext cx="2905482" cy="354330"/>
          </a:xfrm>
          <a:prstGeom prst="rect">
            <a:avLst/>
          </a:prstGeom>
          <a:noFill/>
          <a:ln/>
        </p:spPr>
        <p:txBody>
          <a:bodyPr wrap="none" lIns="0" tIns="0" rIns="0" bIns="0" rtlCol="0" anchor="t"/>
          <a:lstStyle/>
          <a:p>
            <a:pPr algn="l" indent="0" marL="0">
              <a:lnSpc>
                <a:spcPts val="2750"/>
              </a:lnSpc>
              <a:buNone/>
            </a:pPr>
            <a:r>
              <a:rPr lang="en-US" sz="2200" b="1" dirty="0">
                <a:solidFill>
                  <a:srgbClr val="405449"/>
                </a:solidFill>
                <a:latin typeface="Fraunces Extra Bold" pitchFamily="34" charset="0"/>
                <a:ea typeface="Fraunces Extra Bold" pitchFamily="34" charset="-122"/>
                <a:cs typeface="Fraunces Extra Bold" pitchFamily="34" charset="-120"/>
              </a:rPr>
              <a:t>Processing Problem</a:t>
            </a:r>
            <a:endParaRPr lang="en-US" sz="2200" dirty="0"/>
          </a:p>
        </p:txBody>
      </p:sp>
      <p:sp>
        <p:nvSpPr>
          <p:cNvPr id="15" name="Text 13"/>
          <p:cNvSpPr/>
          <p:nvPr/>
        </p:nvSpPr>
        <p:spPr>
          <a:xfrm>
            <a:off x="7685842" y="5957887"/>
            <a:ext cx="5893475" cy="725805"/>
          </a:xfrm>
          <a:prstGeom prst="rect">
            <a:avLst/>
          </a:prstGeom>
          <a:noFill/>
          <a:ln/>
        </p:spPr>
        <p:txBody>
          <a:bodyPr wrap="square" lIns="0" tIns="0" rIns="0" bIns="0" rtlCol="0" anchor="t"/>
          <a:lstStyle/>
          <a:p>
            <a:pPr algn="l" indent="0" marL="0">
              <a:lnSpc>
                <a:spcPts val="2850"/>
              </a:lnSpc>
              <a:buNone/>
            </a:pPr>
            <a:r>
              <a:rPr lang="en-US" sz="1750" dirty="0">
                <a:solidFill>
                  <a:srgbClr val="405449"/>
                </a:solidFill>
                <a:latin typeface="Nobile" pitchFamily="34" charset="0"/>
                <a:ea typeface="Nobile" pitchFamily="34" charset="-122"/>
                <a:cs typeface="Nobile" pitchFamily="34" charset="-120"/>
              </a:rPr>
              <a:t>How do we process such immense datasets in a reasonable amount of time to derive insights?</a:t>
            </a:r>
            <a:endParaRPr lang="en-US" sz="17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650558" y="511135"/>
            <a:ext cx="8385096" cy="580787"/>
          </a:xfrm>
          <a:prstGeom prst="rect">
            <a:avLst/>
          </a:prstGeom>
          <a:noFill/>
          <a:ln/>
        </p:spPr>
        <p:txBody>
          <a:bodyPr wrap="none" lIns="0" tIns="0" rIns="0" bIns="0" rtlCol="0" anchor="t"/>
          <a:lstStyle/>
          <a:p>
            <a:pPr algn="l" indent="0" marL="0">
              <a:lnSpc>
                <a:spcPts val="4550"/>
              </a:lnSpc>
              <a:buNone/>
            </a:pPr>
            <a:r>
              <a:rPr lang="en-US" sz="3650" b="1" dirty="0">
                <a:solidFill>
                  <a:srgbClr val="3B4540"/>
                </a:solidFill>
                <a:latin typeface="Fraunces Extra Bold" pitchFamily="34" charset="0"/>
                <a:ea typeface="Fraunces Extra Bold" pitchFamily="34" charset="-122"/>
                <a:cs typeface="Fraunces Extra Bold" pitchFamily="34" charset="-120"/>
              </a:rPr>
              <a:t>Centralized vs. Distributed Systems</a:t>
            </a:r>
            <a:endParaRPr lang="en-US" sz="3650" dirty="0"/>
          </a:p>
        </p:txBody>
      </p:sp>
      <p:sp>
        <p:nvSpPr>
          <p:cNvPr id="3" name="Text 1"/>
          <p:cNvSpPr/>
          <p:nvPr/>
        </p:nvSpPr>
        <p:spPr>
          <a:xfrm>
            <a:off x="650558" y="1556504"/>
            <a:ext cx="2399347" cy="290513"/>
          </a:xfrm>
          <a:prstGeom prst="rect">
            <a:avLst/>
          </a:prstGeom>
          <a:noFill/>
          <a:ln/>
        </p:spPr>
        <p:txBody>
          <a:bodyPr wrap="none" lIns="0" tIns="0" rIns="0" bIns="0" rtlCol="0" anchor="t"/>
          <a:lstStyle/>
          <a:p>
            <a:pPr algn="l" indent="0" marL="0">
              <a:lnSpc>
                <a:spcPts val="2250"/>
              </a:lnSpc>
              <a:buNone/>
            </a:pPr>
            <a:r>
              <a:rPr lang="en-US" sz="1800" b="1" dirty="0">
                <a:solidFill>
                  <a:srgbClr val="3B4540"/>
                </a:solidFill>
                <a:latin typeface="Fraunces Extra Bold" pitchFamily="34" charset="0"/>
                <a:ea typeface="Fraunces Extra Bold" pitchFamily="34" charset="-122"/>
                <a:cs typeface="Fraunces Extra Bold" pitchFamily="34" charset="-120"/>
              </a:rPr>
              <a:t>Centralized Systems</a:t>
            </a:r>
            <a:endParaRPr lang="en-US" sz="1800" dirty="0"/>
          </a:p>
        </p:txBody>
      </p:sp>
      <p:pic>
        <p:nvPicPr>
          <p:cNvPr id="4" name="Image 0" descr="preencoded.png">    </p:cNvPr>
          <p:cNvPicPr>
            <a:picLocks noChangeAspect="1"/>
          </p:cNvPicPr>
          <p:nvPr/>
        </p:nvPicPr>
        <p:blipFill>
          <a:blip r:embed="rId1"/>
          <a:stretch>
            <a:fillRect/>
          </a:stretch>
        </p:blipFill>
        <p:spPr>
          <a:xfrm>
            <a:off x="650558" y="2056090"/>
            <a:ext cx="6437948" cy="4404836"/>
          </a:xfrm>
          <a:prstGeom prst="rect">
            <a:avLst/>
          </a:prstGeom>
        </p:spPr>
      </p:pic>
      <p:sp>
        <p:nvSpPr>
          <p:cNvPr id="5" name="Text 2"/>
          <p:cNvSpPr/>
          <p:nvPr/>
        </p:nvSpPr>
        <p:spPr>
          <a:xfrm>
            <a:off x="650558" y="6670000"/>
            <a:ext cx="6437948" cy="297299"/>
          </a:xfrm>
          <a:prstGeom prst="rect">
            <a:avLst/>
          </a:prstGeom>
          <a:noFill/>
          <a:ln/>
        </p:spPr>
        <p:txBody>
          <a:bodyPr wrap="none" lIns="0" tIns="0" rIns="0" bIns="0" rtlCol="0" anchor="t"/>
          <a:lstStyle/>
          <a:p>
            <a:pPr algn="l" marL="342900" indent="-342900">
              <a:lnSpc>
                <a:spcPts val="2300"/>
              </a:lnSpc>
              <a:buSzPct val="100000"/>
              <a:buChar char="•"/>
            </a:pPr>
            <a:r>
              <a:rPr lang="en-US" sz="1450" dirty="0">
                <a:solidFill>
                  <a:srgbClr val="405449"/>
                </a:solidFill>
                <a:latin typeface="Nobile" pitchFamily="34" charset="0"/>
                <a:ea typeface="Nobile" pitchFamily="34" charset="-122"/>
                <a:cs typeface="Nobile" pitchFamily="34" charset="-120"/>
              </a:rPr>
              <a:t>All data stored and processed on a single server.</a:t>
            </a:r>
            <a:endParaRPr lang="en-US" sz="1450" dirty="0"/>
          </a:p>
        </p:txBody>
      </p:sp>
      <p:sp>
        <p:nvSpPr>
          <p:cNvPr id="6" name="Text 3"/>
          <p:cNvSpPr/>
          <p:nvPr/>
        </p:nvSpPr>
        <p:spPr>
          <a:xfrm>
            <a:off x="650558" y="7032308"/>
            <a:ext cx="6437948" cy="297299"/>
          </a:xfrm>
          <a:prstGeom prst="rect">
            <a:avLst/>
          </a:prstGeom>
          <a:noFill/>
          <a:ln/>
        </p:spPr>
        <p:txBody>
          <a:bodyPr wrap="none" lIns="0" tIns="0" rIns="0" bIns="0" rtlCol="0" anchor="t"/>
          <a:lstStyle/>
          <a:p>
            <a:pPr algn="l" marL="342900" indent="-342900">
              <a:lnSpc>
                <a:spcPts val="2300"/>
              </a:lnSpc>
              <a:buSzPct val="100000"/>
              <a:buChar char="•"/>
            </a:pPr>
            <a:r>
              <a:rPr lang="en-US" sz="1450" dirty="0">
                <a:solidFill>
                  <a:srgbClr val="405449"/>
                </a:solidFill>
                <a:latin typeface="Nobile" pitchFamily="34" charset="0"/>
                <a:ea typeface="Nobile" pitchFamily="34" charset="-122"/>
                <a:cs typeface="Nobile" pitchFamily="34" charset="-120"/>
              </a:rPr>
              <a:t>Effective for smaller data volumes.</a:t>
            </a:r>
            <a:endParaRPr lang="en-US" sz="1450" dirty="0"/>
          </a:p>
        </p:txBody>
      </p:sp>
      <p:sp>
        <p:nvSpPr>
          <p:cNvPr id="7" name="Text 4"/>
          <p:cNvSpPr/>
          <p:nvPr/>
        </p:nvSpPr>
        <p:spPr>
          <a:xfrm>
            <a:off x="650558" y="7394615"/>
            <a:ext cx="6437948" cy="594598"/>
          </a:xfrm>
          <a:prstGeom prst="rect">
            <a:avLst/>
          </a:prstGeom>
          <a:noFill/>
          <a:ln/>
        </p:spPr>
        <p:txBody>
          <a:bodyPr wrap="square" lIns="0" tIns="0" rIns="0" bIns="0" rtlCol="0" anchor="t"/>
          <a:lstStyle/>
          <a:p>
            <a:pPr algn="l" marL="342900" indent="-342900">
              <a:lnSpc>
                <a:spcPts val="2300"/>
              </a:lnSpc>
              <a:buSzPct val="100000"/>
              <a:buChar char="•"/>
            </a:pPr>
            <a:r>
              <a:rPr lang="en-US" sz="1450" b="1" dirty="0">
                <a:solidFill>
                  <a:srgbClr val="405449"/>
                </a:solidFill>
                <a:latin typeface="Nobile" pitchFamily="34" charset="0"/>
                <a:ea typeface="Nobile" pitchFamily="34" charset="-122"/>
                <a:cs typeface="Nobile" pitchFamily="34" charset="-120"/>
              </a:rPr>
              <a:t>Vertical scalability</a:t>
            </a:r>
            <a:pPr algn="l" indent="0" marL="0">
              <a:lnSpc>
                <a:spcPts val="2300"/>
              </a:lnSpc>
              <a:buNone/>
            </a:pPr>
            <a:r>
              <a:rPr lang="en-US" sz="1450" dirty="0">
                <a:solidFill>
                  <a:srgbClr val="405449"/>
                </a:solidFill>
                <a:latin typeface="Nobile" pitchFamily="34" charset="0"/>
                <a:ea typeface="Nobile" pitchFamily="34" charset="-122"/>
                <a:cs typeface="Nobile" pitchFamily="34" charset="-120"/>
              </a:rPr>
              <a:t> (increasing server capacity) is limited and expensive beyond a certain point.</a:t>
            </a:r>
            <a:endParaRPr lang="en-US" sz="1450" dirty="0"/>
          </a:p>
        </p:txBody>
      </p:sp>
      <p:sp>
        <p:nvSpPr>
          <p:cNvPr id="8" name="Text 5"/>
          <p:cNvSpPr/>
          <p:nvPr/>
        </p:nvSpPr>
        <p:spPr>
          <a:xfrm>
            <a:off x="7549515" y="1556504"/>
            <a:ext cx="2403991" cy="290513"/>
          </a:xfrm>
          <a:prstGeom prst="rect">
            <a:avLst/>
          </a:prstGeom>
          <a:noFill/>
          <a:ln/>
        </p:spPr>
        <p:txBody>
          <a:bodyPr wrap="none" lIns="0" tIns="0" rIns="0" bIns="0" rtlCol="0" anchor="t"/>
          <a:lstStyle/>
          <a:p>
            <a:pPr algn="l" indent="0" marL="0">
              <a:lnSpc>
                <a:spcPts val="2250"/>
              </a:lnSpc>
              <a:buNone/>
            </a:pPr>
            <a:r>
              <a:rPr lang="en-US" sz="1800" b="1" dirty="0">
                <a:solidFill>
                  <a:srgbClr val="3B4540"/>
                </a:solidFill>
                <a:latin typeface="Fraunces Extra Bold" pitchFamily="34" charset="0"/>
                <a:ea typeface="Fraunces Extra Bold" pitchFamily="34" charset="-122"/>
                <a:cs typeface="Fraunces Extra Bold" pitchFamily="34" charset="-120"/>
              </a:rPr>
              <a:t>Distributed Systems</a:t>
            </a:r>
            <a:endParaRPr lang="en-US" sz="1800" dirty="0"/>
          </a:p>
        </p:txBody>
      </p:sp>
      <p:pic>
        <p:nvPicPr>
          <p:cNvPr id="9" name="Image 1" descr="preencoded.png">    </p:cNvPr>
          <p:cNvPicPr>
            <a:picLocks noChangeAspect="1"/>
          </p:cNvPicPr>
          <p:nvPr/>
        </p:nvPicPr>
        <p:blipFill>
          <a:blip r:embed="rId2"/>
          <a:stretch>
            <a:fillRect/>
          </a:stretch>
        </p:blipFill>
        <p:spPr>
          <a:xfrm>
            <a:off x="7549515" y="2056090"/>
            <a:ext cx="6437948" cy="4404836"/>
          </a:xfrm>
          <a:prstGeom prst="rect">
            <a:avLst/>
          </a:prstGeom>
        </p:spPr>
      </p:pic>
      <p:sp>
        <p:nvSpPr>
          <p:cNvPr id="10" name="Text 6"/>
          <p:cNvSpPr/>
          <p:nvPr/>
        </p:nvSpPr>
        <p:spPr>
          <a:xfrm>
            <a:off x="7549515" y="6670000"/>
            <a:ext cx="6437948" cy="297299"/>
          </a:xfrm>
          <a:prstGeom prst="rect">
            <a:avLst/>
          </a:prstGeom>
          <a:noFill/>
          <a:ln/>
        </p:spPr>
        <p:txBody>
          <a:bodyPr wrap="none" lIns="0" tIns="0" rIns="0" bIns="0" rtlCol="0" anchor="t"/>
          <a:lstStyle/>
          <a:p>
            <a:pPr algn="l" marL="342900" indent="-342900">
              <a:lnSpc>
                <a:spcPts val="2300"/>
              </a:lnSpc>
              <a:buSzPct val="100000"/>
              <a:buChar char="•"/>
            </a:pPr>
            <a:r>
              <a:rPr lang="en-US" sz="1450" dirty="0">
                <a:solidFill>
                  <a:srgbClr val="405449"/>
                </a:solidFill>
                <a:latin typeface="Nobile" pitchFamily="34" charset="0"/>
                <a:ea typeface="Nobile" pitchFamily="34" charset="-122"/>
                <a:cs typeface="Nobile" pitchFamily="34" charset="-120"/>
              </a:rPr>
              <a:t>Huge datasets are split and processed across multiple systems.</a:t>
            </a:r>
            <a:endParaRPr lang="en-US" sz="1450" dirty="0"/>
          </a:p>
        </p:txBody>
      </p:sp>
      <p:sp>
        <p:nvSpPr>
          <p:cNvPr id="11" name="Text 7"/>
          <p:cNvSpPr/>
          <p:nvPr/>
        </p:nvSpPr>
        <p:spPr>
          <a:xfrm>
            <a:off x="7549515" y="7032308"/>
            <a:ext cx="6437948" cy="297299"/>
          </a:xfrm>
          <a:prstGeom prst="rect">
            <a:avLst/>
          </a:prstGeom>
          <a:noFill/>
          <a:ln/>
        </p:spPr>
        <p:txBody>
          <a:bodyPr wrap="none" lIns="0" tIns="0" rIns="0" bIns="0" rtlCol="0" anchor="t"/>
          <a:lstStyle/>
          <a:p>
            <a:pPr algn="l" marL="342900" indent="-342900">
              <a:lnSpc>
                <a:spcPts val="2300"/>
              </a:lnSpc>
              <a:buSzPct val="100000"/>
              <a:buChar char="•"/>
            </a:pPr>
            <a:r>
              <a:rPr lang="en-US" sz="1450" dirty="0">
                <a:solidFill>
                  <a:srgbClr val="405449"/>
                </a:solidFill>
                <a:latin typeface="Nobile" pitchFamily="34" charset="0"/>
                <a:ea typeface="Nobile" pitchFamily="34" charset="-122"/>
                <a:cs typeface="Nobile" pitchFamily="34" charset="-120"/>
              </a:rPr>
              <a:t>Designed for massive data volumes and high throughput.</a:t>
            </a:r>
            <a:endParaRPr lang="en-US" sz="1450" dirty="0"/>
          </a:p>
        </p:txBody>
      </p:sp>
      <p:sp>
        <p:nvSpPr>
          <p:cNvPr id="12" name="Text 8"/>
          <p:cNvSpPr/>
          <p:nvPr/>
        </p:nvSpPr>
        <p:spPr>
          <a:xfrm>
            <a:off x="7549515" y="7394615"/>
            <a:ext cx="6437948" cy="594598"/>
          </a:xfrm>
          <a:prstGeom prst="rect">
            <a:avLst/>
          </a:prstGeom>
          <a:noFill/>
          <a:ln/>
        </p:spPr>
        <p:txBody>
          <a:bodyPr wrap="square" lIns="0" tIns="0" rIns="0" bIns="0" rtlCol="0" anchor="t"/>
          <a:lstStyle/>
          <a:p>
            <a:pPr algn="l" marL="342900" indent="-342900">
              <a:lnSpc>
                <a:spcPts val="2300"/>
              </a:lnSpc>
              <a:buSzPct val="100000"/>
              <a:buChar char="•"/>
            </a:pPr>
            <a:r>
              <a:rPr lang="en-US" sz="1450" b="1" dirty="0">
                <a:solidFill>
                  <a:srgbClr val="405449"/>
                </a:solidFill>
                <a:latin typeface="Nobile" pitchFamily="34" charset="0"/>
                <a:ea typeface="Nobile" pitchFamily="34" charset="-122"/>
                <a:cs typeface="Nobile" pitchFamily="34" charset="-120"/>
              </a:rPr>
              <a:t>Horizontal scalability</a:t>
            </a:r>
            <a:pPr algn="l" indent="0" marL="0">
              <a:lnSpc>
                <a:spcPts val="2300"/>
              </a:lnSpc>
              <a:buNone/>
            </a:pPr>
            <a:r>
              <a:rPr lang="en-US" sz="1450" dirty="0">
                <a:solidFill>
                  <a:srgbClr val="405449"/>
                </a:solidFill>
                <a:latin typeface="Nobile" pitchFamily="34" charset="0"/>
                <a:ea typeface="Nobile" pitchFamily="34" charset="-122"/>
                <a:cs typeface="Nobile" pitchFamily="34" charset="-120"/>
              </a:rPr>
              <a:t> (adding more machines) allows for virtually limitless expansion.</a:t>
            </a:r>
            <a:endParaRPr lang="en-US" sz="14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23054" y="489466"/>
            <a:ext cx="7360444" cy="556260"/>
          </a:xfrm>
          <a:prstGeom prst="rect">
            <a:avLst/>
          </a:prstGeom>
          <a:noFill/>
          <a:ln/>
        </p:spPr>
        <p:txBody>
          <a:bodyPr wrap="none" lIns="0" tIns="0" rIns="0" bIns="0" rtlCol="0" anchor="t"/>
          <a:lstStyle/>
          <a:p>
            <a:pPr algn="l" indent="0" marL="0">
              <a:lnSpc>
                <a:spcPts val="4350"/>
              </a:lnSpc>
              <a:buNone/>
            </a:pPr>
            <a:r>
              <a:rPr lang="en-US" sz="3500" b="1" dirty="0">
                <a:solidFill>
                  <a:srgbClr val="3B4540"/>
                </a:solidFill>
                <a:latin typeface="Fraunces Extra Bold" pitchFamily="34" charset="0"/>
                <a:ea typeface="Fraunces Extra Bold" pitchFamily="34" charset="-122"/>
                <a:cs typeface="Fraunces Extra Bold" pitchFamily="34" charset="-120"/>
              </a:rPr>
              <a:t>Apache Hadoop: The Foundation</a:t>
            </a:r>
            <a:endParaRPr lang="en-US" sz="3500" dirty="0"/>
          </a:p>
        </p:txBody>
      </p:sp>
      <p:sp>
        <p:nvSpPr>
          <p:cNvPr id="3" name="Text 1"/>
          <p:cNvSpPr/>
          <p:nvPr/>
        </p:nvSpPr>
        <p:spPr>
          <a:xfrm>
            <a:off x="623054" y="1401723"/>
            <a:ext cx="13384292" cy="284798"/>
          </a:xfrm>
          <a:prstGeom prst="rect">
            <a:avLst/>
          </a:prstGeom>
          <a:noFill/>
          <a:ln/>
        </p:spPr>
        <p:txBody>
          <a:bodyPr wrap="none" lIns="0" tIns="0" rIns="0" bIns="0" rtlCol="0" anchor="t"/>
          <a:lstStyle/>
          <a:p>
            <a:pPr algn="l" indent="0" marL="0">
              <a:lnSpc>
                <a:spcPts val="2200"/>
              </a:lnSpc>
              <a:buNone/>
            </a:pPr>
            <a:r>
              <a:rPr lang="en-US" sz="1400" dirty="0">
                <a:solidFill>
                  <a:srgbClr val="405449"/>
                </a:solidFill>
                <a:latin typeface="Nobile" pitchFamily="34" charset="0"/>
                <a:ea typeface="Nobile" pitchFamily="34" charset="-122"/>
                <a:cs typeface="Nobile" pitchFamily="34" charset="-120"/>
              </a:rPr>
              <a:t>Apache Hadoop is a pioneering framework for distributed computing, addressing the core challenges of Big Data. It provides two key components:</a:t>
            </a:r>
            <a:endParaRPr lang="en-US" sz="1400" dirty="0"/>
          </a:p>
        </p:txBody>
      </p:sp>
      <p:sp>
        <p:nvSpPr>
          <p:cNvPr id="4" name="Shape 2"/>
          <p:cNvSpPr/>
          <p:nvPr/>
        </p:nvSpPr>
        <p:spPr>
          <a:xfrm>
            <a:off x="623054" y="2087047"/>
            <a:ext cx="7165896" cy="2851309"/>
          </a:xfrm>
          <a:prstGeom prst="roundRect">
            <a:avLst>
              <a:gd name="adj" fmla="val 3848"/>
            </a:avLst>
          </a:prstGeom>
          <a:noFill/>
          <a:ln w="22860">
            <a:solidFill>
              <a:srgbClr val="CED9CE"/>
            </a:solidFill>
            <a:prstDash val="solid"/>
          </a:ln>
        </p:spPr>
      </p:sp>
      <p:sp>
        <p:nvSpPr>
          <p:cNvPr id="5" name="Shape 3"/>
          <p:cNvSpPr/>
          <p:nvPr/>
        </p:nvSpPr>
        <p:spPr>
          <a:xfrm>
            <a:off x="600194" y="2087047"/>
            <a:ext cx="91440" cy="2851309"/>
          </a:xfrm>
          <a:prstGeom prst="roundRect">
            <a:avLst>
              <a:gd name="adj" fmla="val 175216"/>
            </a:avLst>
          </a:prstGeom>
          <a:solidFill>
            <a:srgbClr val="438951"/>
          </a:solidFill>
          <a:ln/>
        </p:spPr>
      </p:sp>
      <p:sp>
        <p:nvSpPr>
          <p:cNvPr id="6" name="Text 4"/>
          <p:cNvSpPr/>
          <p:nvPr/>
        </p:nvSpPr>
        <p:spPr>
          <a:xfrm>
            <a:off x="892493" y="2287905"/>
            <a:ext cx="4367808" cy="278130"/>
          </a:xfrm>
          <a:prstGeom prst="rect">
            <a:avLst/>
          </a:prstGeom>
          <a:noFill/>
          <a:ln/>
        </p:spPr>
        <p:txBody>
          <a:bodyPr wrap="none" lIns="0" tIns="0" rIns="0" bIns="0" rtlCol="0" anchor="t"/>
          <a:lstStyle/>
          <a:p>
            <a:pPr algn="l" indent="0" marL="0">
              <a:lnSpc>
                <a:spcPts val="2150"/>
              </a:lnSpc>
              <a:buNone/>
            </a:pPr>
            <a:r>
              <a:rPr lang="en-US" sz="1750" b="1" dirty="0">
                <a:solidFill>
                  <a:srgbClr val="405449"/>
                </a:solidFill>
                <a:latin typeface="Fraunces Extra Bold" pitchFamily="34" charset="0"/>
                <a:ea typeface="Fraunces Extra Bold" pitchFamily="34" charset="-122"/>
                <a:cs typeface="Fraunces Extra Bold" pitchFamily="34" charset="-120"/>
              </a:rPr>
              <a:t>HDFS: Hadoop Distributed File System</a:t>
            </a:r>
            <a:endParaRPr lang="en-US" sz="1750" dirty="0"/>
          </a:p>
        </p:txBody>
      </p:sp>
      <p:sp>
        <p:nvSpPr>
          <p:cNvPr id="7" name="Text 5"/>
          <p:cNvSpPr/>
          <p:nvPr/>
        </p:nvSpPr>
        <p:spPr>
          <a:xfrm>
            <a:off x="892493" y="2744033"/>
            <a:ext cx="6695599" cy="854393"/>
          </a:xfrm>
          <a:prstGeom prst="rect">
            <a:avLst/>
          </a:prstGeom>
          <a:noFill/>
          <a:ln/>
        </p:spPr>
        <p:txBody>
          <a:bodyPr wrap="square" lIns="0" tIns="0" rIns="0" bIns="0" rtlCol="0" anchor="t"/>
          <a:lstStyle/>
          <a:p>
            <a:pPr algn="l" indent="0" marL="0">
              <a:lnSpc>
                <a:spcPts val="2200"/>
              </a:lnSpc>
              <a:buNone/>
            </a:pPr>
            <a:r>
              <a:rPr lang="en-US" sz="1400" dirty="0">
                <a:solidFill>
                  <a:srgbClr val="405449"/>
                </a:solidFill>
                <a:latin typeface="Nobile" pitchFamily="34" charset="0"/>
                <a:ea typeface="Nobile" pitchFamily="34" charset="-122"/>
                <a:cs typeface="Nobile" pitchFamily="34" charset="-120"/>
              </a:rPr>
              <a:t>A fault-tolerant, distributed file system designed to store massive amounts of data on </a:t>
            </a:r>
            <a:pPr algn="l" indent="0" marL="0">
              <a:lnSpc>
                <a:spcPts val="2200"/>
              </a:lnSpc>
              <a:buNone/>
            </a:pPr>
            <a:r>
              <a:rPr lang="en-US" sz="1400" b="1" dirty="0">
                <a:solidFill>
                  <a:srgbClr val="405449"/>
                </a:solidFill>
                <a:latin typeface="Nobile" pitchFamily="34" charset="0"/>
                <a:ea typeface="Nobile" pitchFamily="34" charset="-122"/>
                <a:cs typeface="Nobile" pitchFamily="34" charset="-120"/>
              </a:rPr>
              <a:t>commodity hardware</a:t>
            </a:r>
            <a:pPr algn="l" indent="0" marL="0">
              <a:lnSpc>
                <a:spcPts val="2200"/>
              </a:lnSpc>
              <a:buNone/>
            </a:pPr>
            <a:r>
              <a:rPr lang="en-US" sz="1400" dirty="0">
                <a:solidFill>
                  <a:srgbClr val="405449"/>
                </a:solidFill>
                <a:latin typeface="Nobile" pitchFamily="34" charset="0"/>
                <a:ea typeface="Nobile" pitchFamily="34" charset="-122"/>
                <a:cs typeface="Nobile" pitchFamily="34" charset="-120"/>
              </a:rPr>
              <a:t> (affordable, standard devices networked for collective power).</a:t>
            </a:r>
            <a:endParaRPr lang="en-US" sz="1400" dirty="0"/>
          </a:p>
        </p:txBody>
      </p:sp>
      <p:sp>
        <p:nvSpPr>
          <p:cNvPr id="8" name="Text 6"/>
          <p:cNvSpPr/>
          <p:nvPr/>
        </p:nvSpPr>
        <p:spPr>
          <a:xfrm>
            <a:off x="892493" y="3758565"/>
            <a:ext cx="6695599" cy="284798"/>
          </a:xfrm>
          <a:prstGeom prst="rect">
            <a:avLst/>
          </a:prstGeom>
          <a:noFill/>
          <a:ln/>
        </p:spPr>
        <p:txBody>
          <a:bodyPr wrap="none" lIns="0" tIns="0" rIns="0" bIns="0" rtlCol="0" anchor="t"/>
          <a:lstStyle/>
          <a:p>
            <a:pPr algn="l" marL="342900" indent="-342900">
              <a:lnSpc>
                <a:spcPts val="2200"/>
              </a:lnSpc>
              <a:buSzPct val="100000"/>
              <a:buChar char="•"/>
            </a:pPr>
            <a:r>
              <a:rPr lang="en-US" sz="1400" dirty="0">
                <a:solidFill>
                  <a:srgbClr val="405449"/>
                </a:solidFill>
                <a:latin typeface="Nobile" pitchFamily="34" charset="0"/>
                <a:ea typeface="Nobile" pitchFamily="34" charset="-122"/>
                <a:cs typeface="Nobile" pitchFamily="34" charset="-120"/>
              </a:rPr>
              <a:t>Cost-effective storage solution.</a:t>
            </a:r>
            <a:endParaRPr lang="en-US" sz="1400" dirty="0"/>
          </a:p>
        </p:txBody>
      </p:sp>
      <p:sp>
        <p:nvSpPr>
          <p:cNvPr id="9" name="Text 7"/>
          <p:cNvSpPr/>
          <p:nvPr/>
        </p:nvSpPr>
        <p:spPr>
          <a:xfrm>
            <a:off x="892493" y="4105632"/>
            <a:ext cx="6695599" cy="284798"/>
          </a:xfrm>
          <a:prstGeom prst="rect">
            <a:avLst/>
          </a:prstGeom>
          <a:noFill/>
          <a:ln/>
        </p:spPr>
        <p:txBody>
          <a:bodyPr wrap="none" lIns="0" tIns="0" rIns="0" bIns="0" rtlCol="0" anchor="t"/>
          <a:lstStyle/>
          <a:p>
            <a:pPr algn="l" marL="342900" indent="-342900">
              <a:lnSpc>
                <a:spcPts val="2200"/>
              </a:lnSpc>
              <a:buSzPct val="100000"/>
              <a:buChar char="•"/>
            </a:pPr>
            <a:r>
              <a:rPr lang="en-US" sz="1400" dirty="0">
                <a:solidFill>
                  <a:srgbClr val="405449"/>
                </a:solidFill>
                <a:latin typeface="Nobile" pitchFamily="34" charset="0"/>
                <a:ea typeface="Nobile" pitchFamily="34" charset="-122"/>
                <a:cs typeface="Nobile" pitchFamily="34" charset="-120"/>
              </a:rPr>
              <a:t>Data replication for high availability and security.</a:t>
            </a:r>
            <a:endParaRPr lang="en-US" sz="1400" dirty="0"/>
          </a:p>
        </p:txBody>
      </p:sp>
      <p:sp>
        <p:nvSpPr>
          <p:cNvPr id="10" name="Text 8"/>
          <p:cNvSpPr/>
          <p:nvPr/>
        </p:nvSpPr>
        <p:spPr>
          <a:xfrm>
            <a:off x="892493" y="4452699"/>
            <a:ext cx="6695599" cy="284798"/>
          </a:xfrm>
          <a:prstGeom prst="rect">
            <a:avLst/>
          </a:prstGeom>
          <a:noFill/>
          <a:ln/>
        </p:spPr>
        <p:txBody>
          <a:bodyPr wrap="none" lIns="0" tIns="0" rIns="0" bIns="0" rtlCol="0" anchor="t"/>
          <a:lstStyle/>
          <a:p>
            <a:pPr algn="l" marL="342900" indent="-342900">
              <a:lnSpc>
                <a:spcPts val="2200"/>
              </a:lnSpc>
              <a:buSzPct val="100000"/>
              <a:buChar char="•"/>
            </a:pPr>
            <a:r>
              <a:rPr lang="en-US" sz="1400" dirty="0">
                <a:solidFill>
                  <a:srgbClr val="405449"/>
                </a:solidFill>
                <a:latin typeface="Nobile" pitchFamily="34" charset="0"/>
                <a:ea typeface="Nobile" pitchFamily="34" charset="-122"/>
                <a:cs typeface="Nobile" pitchFamily="34" charset="-120"/>
              </a:rPr>
              <a:t>Scales horizontally by adding more nodes.</a:t>
            </a:r>
            <a:endParaRPr lang="en-US" sz="1400" dirty="0"/>
          </a:p>
        </p:txBody>
      </p:sp>
      <p:sp>
        <p:nvSpPr>
          <p:cNvPr id="11" name="Shape 9"/>
          <p:cNvSpPr/>
          <p:nvPr/>
        </p:nvSpPr>
        <p:spPr>
          <a:xfrm>
            <a:off x="623054" y="5116354"/>
            <a:ext cx="7165896" cy="1712238"/>
          </a:xfrm>
          <a:prstGeom prst="roundRect">
            <a:avLst>
              <a:gd name="adj" fmla="val 6408"/>
            </a:avLst>
          </a:prstGeom>
          <a:noFill/>
          <a:ln w="22860">
            <a:solidFill>
              <a:srgbClr val="CED9CE"/>
            </a:solidFill>
            <a:prstDash val="solid"/>
          </a:ln>
        </p:spPr>
      </p:sp>
      <p:sp>
        <p:nvSpPr>
          <p:cNvPr id="12" name="Shape 10"/>
          <p:cNvSpPr/>
          <p:nvPr/>
        </p:nvSpPr>
        <p:spPr>
          <a:xfrm>
            <a:off x="600194" y="5116354"/>
            <a:ext cx="91440" cy="1712238"/>
          </a:xfrm>
          <a:prstGeom prst="roundRect">
            <a:avLst>
              <a:gd name="adj" fmla="val 175216"/>
            </a:avLst>
          </a:prstGeom>
          <a:solidFill>
            <a:srgbClr val="438951"/>
          </a:solidFill>
          <a:ln/>
        </p:spPr>
      </p:sp>
      <p:sp>
        <p:nvSpPr>
          <p:cNvPr id="13" name="Text 11"/>
          <p:cNvSpPr/>
          <p:nvPr/>
        </p:nvSpPr>
        <p:spPr>
          <a:xfrm>
            <a:off x="892493" y="5317212"/>
            <a:ext cx="4010620" cy="278130"/>
          </a:xfrm>
          <a:prstGeom prst="rect">
            <a:avLst/>
          </a:prstGeom>
          <a:noFill/>
          <a:ln/>
        </p:spPr>
        <p:txBody>
          <a:bodyPr wrap="none" lIns="0" tIns="0" rIns="0" bIns="0" rtlCol="0" anchor="t"/>
          <a:lstStyle/>
          <a:p>
            <a:pPr algn="l" indent="0" marL="0">
              <a:lnSpc>
                <a:spcPts val="2150"/>
              </a:lnSpc>
              <a:buNone/>
            </a:pPr>
            <a:r>
              <a:rPr lang="en-US" sz="1750" b="1" dirty="0">
                <a:solidFill>
                  <a:srgbClr val="405449"/>
                </a:solidFill>
                <a:latin typeface="Fraunces Extra Bold" pitchFamily="34" charset="0"/>
                <a:ea typeface="Fraunces Extra Bold" pitchFamily="34" charset="-122"/>
                <a:cs typeface="Fraunces Extra Bold" pitchFamily="34" charset="-120"/>
              </a:rPr>
              <a:t>MapReduce: The Processing Engine</a:t>
            </a:r>
            <a:endParaRPr lang="en-US" sz="1750" dirty="0"/>
          </a:p>
        </p:txBody>
      </p:sp>
      <p:sp>
        <p:nvSpPr>
          <p:cNvPr id="14" name="Text 12"/>
          <p:cNvSpPr/>
          <p:nvPr/>
        </p:nvSpPr>
        <p:spPr>
          <a:xfrm>
            <a:off x="892493" y="5773341"/>
            <a:ext cx="6695599" cy="854393"/>
          </a:xfrm>
          <a:prstGeom prst="rect">
            <a:avLst/>
          </a:prstGeom>
          <a:noFill/>
          <a:ln/>
        </p:spPr>
        <p:txBody>
          <a:bodyPr wrap="square" lIns="0" tIns="0" rIns="0" bIns="0" rtlCol="0" anchor="t"/>
          <a:lstStyle/>
          <a:p>
            <a:pPr algn="l" indent="0" marL="0">
              <a:lnSpc>
                <a:spcPts val="2200"/>
              </a:lnSpc>
              <a:buNone/>
            </a:pPr>
            <a:r>
              <a:rPr lang="en-US" sz="1400" dirty="0">
                <a:solidFill>
                  <a:srgbClr val="405449"/>
                </a:solidFill>
                <a:latin typeface="Nobile" pitchFamily="34" charset="0"/>
                <a:ea typeface="Nobile" pitchFamily="34" charset="-122"/>
                <a:cs typeface="Nobile" pitchFamily="34" charset="-120"/>
              </a:rPr>
              <a:t>Hadoop's original processing framework for large-scale data analytics. It divides tasks into two phases: Map (processing data) and Reduce (aggregating results).</a:t>
            </a:r>
            <a:endParaRPr lang="en-US" sz="1400" dirty="0"/>
          </a:p>
        </p:txBody>
      </p:sp>
      <p:pic>
        <p:nvPicPr>
          <p:cNvPr id="15" name="Image 0" descr="preencoded.png">    </p:cNvPr>
          <p:cNvPicPr>
            <a:picLocks noChangeAspect="1"/>
          </p:cNvPicPr>
          <p:nvPr/>
        </p:nvPicPr>
        <p:blipFill>
          <a:blip r:embed="rId1"/>
          <a:stretch>
            <a:fillRect/>
          </a:stretch>
        </p:blipFill>
        <p:spPr>
          <a:xfrm>
            <a:off x="8230910" y="2087047"/>
            <a:ext cx="5783937" cy="5783937"/>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793790" y="977860"/>
            <a:ext cx="7580471" cy="708779"/>
          </a:xfrm>
          <a:prstGeom prst="rect">
            <a:avLst/>
          </a:prstGeom>
          <a:noFill/>
          <a:ln/>
        </p:spPr>
        <p:txBody>
          <a:bodyPr wrap="none" lIns="0" tIns="0" rIns="0" bIns="0" rtlCol="0" anchor="t"/>
          <a:lstStyle/>
          <a:p>
            <a:pPr algn="l" indent="0" marL="0">
              <a:lnSpc>
                <a:spcPts val="5550"/>
              </a:lnSpc>
              <a:buNone/>
            </a:pPr>
            <a:r>
              <a:rPr lang="en-US" sz="4450" b="1" dirty="0">
                <a:solidFill>
                  <a:srgbClr val="3B4540"/>
                </a:solidFill>
                <a:latin typeface="Fraunces Extra Bold" pitchFamily="34" charset="0"/>
                <a:ea typeface="Fraunces Extra Bold" pitchFamily="34" charset="-122"/>
                <a:cs typeface="Fraunces Extra Bold" pitchFamily="34" charset="-120"/>
              </a:rPr>
              <a:t>Limitations of MapReduce</a:t>
            </a:r>
            <a:endParaRPr lang="en-US" sz="4450" dirty="0"/>
          </a:p>
        </p:txBody>
      </p:sp>
      <p:sp>
        <p:nvSpPr>
          <p:cNvPr id="3" name="Text 1"/>
          <p:cNvSpPr/>
          <p:nvPr/>
        </p:nvSpPr>
        <p:spPr>
          <a:xfrm>
            <a:off x="793790" y="2140267"/>
            <a:ext cx="13042821" cy="362903"/>
          </a:xfrm>
          <a:prstGeom prst="rect">
            <a:avLst/>
          </a:prstGeom>
          <a:noFill/>
          <a:ln/>
        </p:spPr>
        <p:txBody>
          <a:bodyPr wrap="none" lIns="0" tIns="0" rIns="0" bIns="0" rtlCol="0" anchor="t"/>
          <a:lstStyle/>
          <a:p>
            <a:pPr algn="l" indent="0" marL="0">
              <a:lnSpc>
                <a:spcPts val="2850"/>
              </a:lnSpc>
              <a:buNone/>
            </a:pPr>
            <a:r>
              <a:rPr lang="en-US" sz="1750" dirty="0">
                <a:solidFill>
                  <a:srgbClr val="405449"/>
                </a:solidFill>
                <a:latin typeface="Nobile" pitchFamily="34" charset="0"/>
                <a:ea typeface="Nobile" pitchFamily="34" charset="-122"/>
                <a:cs typeface="Nobile" pitchFamily="34" charset="-120"/>
              </a:rPr>
              <a:t>While foundational, MapReduce has specific limitations that led to the rise of newer technologies like Spark.</a:t>
            </a:r>
            <a:endParaRPr lang="en-US" sz="1750" dirty="0"/>
          </a:p>
        </p:txBody>
      </p:sp>
      <p:sp>
        <p:nvSpPr>
          <p:cNvPr id="4" name="Shape 2"/>
          <p:cNvSpPr/>
          <p:nvPr/>
        </p:nvSpPr>
        <p:spPr>
          <a:xfrm>
            <a:off x="793790" y="2758321"/>
            <a:ext cx="510302" cy="510302"/>
          </a:xfrm>
          <a:prstGeom prst="roundRect">
            <a:avLst>
              <a:gd name="adj" fmla="val 40005"/>
            </a:avLst>
          </a:prstGeom>
          <a:solidFill>
            <a:srgbClr val="E8F3E8"/>
          </a:solidFill>
          <a:ln/>
        </p:spPr>
      </p:sp>
      <p:sp>
        <p:nvSpPr>
          <p:cNvPr id="5" name="Text 3"/>
          <p:cNvSpPr/>
          <p:nvPr/>
        </p:nvSpPr>
        <p:spPr>
          <a:xfrm>
            <a:off x="1530906" y="2836188"/>
            <a:ext cx="2835235" cy="354330"/>
          </a:xfrm>
          <a:prstGeom prst="rect">
            <a:avLst/>
          </a:prstGeom>
          <a:noFill/>
          <a:ln/>
        </p:spPr>
        <p:txBody>
          <a:bodyPr wrap="none" lIns="0" tIns="0" rIns="0" bIns="0" rtlCol="0" anchor="t"/>
          <a:lstStyle/>
          <a:p>
            <a:pPr algn="l" indent="0" marL="0">
              <a:lnSpc>
                <a:spcPts val="2750"/>
              </a:lnSpc>
              <a:buNone/>
            </a:pPr>
            <a:r>
              <a:rPr lang="en-US" sz="2200" b="1" dirty="0">
                <a:solidFill>
                  <a:srgbClr val="405449"/>
                </a:solidFill>
                <a:latin typeface="Fraunces Extra Bold" pitchFamily="34" charset="0"/>
                <a:ea typeface="Fraunces Extra Bold" pitchFamily="34" charset="-122"/>
                <a:cs typeface="Fraunces Extra Bold" pitchFamily="34" charset="-120"/>
              </a:rPr>
              <a:t>High Latency</a:t>
            </a:r>
            <a:endParaRPr lang="en-US" sz="2200" dirty="0"/>
          </a:p>
        </p:txBody>
      </p:sp>
      <p:sp>
        <p:nvSpPr>
          <p:cNvPr id="6" name="Text 4"/>
          <p:cNvSpPr/>
          <p:nvPr/>
        </p:nvSpPr>
        <p:spPr>
          <a:xfrm>
            <a:off x="1530906" y="3326606"/>
            <a:ext cx="5642491" cy="1814513"/>
          </a:xfrm>
          <a:prstGeom prst="rect">
            <a:avLst/>
          </a:prstGeom>
          <a:noFill/>
          <a:ln/>
        </p:spPr>
        <p:txBody>
          <a:bodyPr wrap="square" lIns="0" tIns="0" rIns="0" bIns="0" rtlCol="0" anchor="t"/>
          <a:lstStyle/>
          <a:p>
            <a:pPr algn="l" indent="0" marL="0">
              <a:lnSpc>
                <a:spcPts val="2850"/>
              </a:lnSpc>
              <a:buNone/>
            </a:pPr>
            <a:r>
              <a:rPr lang="en-US" sz="1750" dirty="0">
                <a:solidFill>
                  <a:srgbClr val="405449"/>
                </a:solidFill>
                <a:latin typeface="Nobile" pitchFamily="34" charset="0"/>
                <a:ea typeface="Nobile" pitchFamily="34" charset="-122"/>
                <a:cs typeface="Nobile" pitchFamily="34" charset="-120"/>
              </a:rPr>
              <a:t>MapReduce is primarily a batch processing framework, meaning it processes data in large chunks at once, not in real-time. This results in significant time delays between request and response.</a:t>
            </a:r>
            <a:endParaRPr lang="en-US" sz="1750" dirty="0"/>
          </a:p>
        </p:txBody>
      </p:sp>
      <p:sp>
        <p:nvSpPr>
          <p:cNvPr id="7" name="Shape 5"/>
          <p:cNvSpPr/>
          <p:nvPr/>
        </p:nvSpPr>
        <p:spPr>
          <a:xfrm>
            <a:off x="7456884" y="2758321"/>
            <a:ext cx="510302" cy="510302"/>
          </a:xfrm>
          <a:prstGeom prst="roundRect">
            <a:avLst>
              <a:gd name="adj" fmla="val 40005"/>
            </a:avLst>
          </a:prstGeom>
          <a:solidFill>
            <a:srgbClr val="E8F3E8"/>
          </a:solidFill>
          <a:ln/>
        </p:spPr>
      </p:sp>
      <p:sp>
        <p:nvSpPr>
          <p:cNvPr id="8" name="Text 6"/>
          <p:cNvSpPr/>
          <p:nvPr/>
        </p:nvSpPr>
        <p:spPr>
          <a:xfrm>
            <a:off x="8194000" y="2836188"/>
            <a:ext cx="4346615" cy="354330"/>
          </a:xfrm>
          <a:prstGeom prst="rect">
            <a:avLst/>
          </a:prstGeom>
          <a:noFill/>
          <a:ln/>
        </p:spPr>
        <p:txBody>
          <a:bodyPr wrap="none" lIns="0" tIns="0" rIns="0" bIns="0" rtlCol="0" anchor="t"/>
          <a:lstStyle/>
          <a:p>
            <a:pPr algn="l" indent="0" marL="0">
              <a:lnSpc>
                <a:spcPts val="2750"/>
              </a:lnSpc>
              <a:buNone/>
            </a:pPr>
            <a:r>
              <a:rPr lang="en-US" sz="2200" b="1" dirty="0">
                <a:solidFill>
                  <a:srgbClr val="405449"/>
                </a:solidFill>
                <a:latin typeface="Fraunces Extra Bold" pitchFamily="34" charset="0"/>
                <a:ea typeface="Fraunces Extra Bold" pitchFamily="34" charset="-122"/>
                <a:cs typeface="Fraunces Extra Bold" pitchFamily="34" charset="-120"/>
              </a:rPr>
              <a:t>Inefficient for Real-Time Data</a:t>
            </a:r>
            <a:endParaRPr lang="en-US" sz="2200" dirty="0"/>
          </a:p>
        </p:txBody>
      </p:sp>
      <p:sp>
        <p:nvSpPr>
          <p:cNvPr id="9" name="Text 7"/>
          <p:cNvSpPr/>
          <p:nvPr/>
        </p:nvSpPr>
        <p:spPr>
          <a:xfrm>
            <a:off x="8194000" y="3326606"/>
            <a:ext cx="5642610" cy="1088708"/>
          </a:xfrm>
          <a:prstGeom prst="rect">
            <a:avLst/>
          </a:prstGeom>
          <a:noFill/>
          <a:ln/>
        </p:spPr>
        <p:txBody>
          <a:bodyPr wrap="square" lIns="0" tIns="0" rIns="0" bIns="0" rtlCol="0" anchor="t"/>
          <a:lstStyle/>
          <a:p>
            <a:pPr algn="l" indent="0" marL="0">
              <a:lnSpc>
                <a:spcPts val="2850"/>
              </a:lnSpc>
              <a:buNone/>
            </a:pPr>
            <a:r>
              <a:rPr lang="en-US" sz="1750" dirty="0">
                <a:solidFill>
                  <a:srgbClr val="405449"/>
                </a:solidFill>
                <a:latin typeface="Nobile" pitchFamily="34" charset="0"/>
                <a:ea typeface="Nobile" pitchFamily="34" charset="-122"/>
                <a:cs typeface="Nobile" pitchFamily="34" charset="-120"/>
              </a:rPr>
              <a:t>It struggles to efficiently handle continuous streams of data, making it unsuitable for applications requiring immediate insights.</a:t>
            </a:r>
            <a:endParaRPr lang="en-US" sz="1750" dirty="0"/>
          </a:p>
        </p:txBody>
      </p:sp>
      <p:sp>
        <p:nvSpPr>
          <p:cNvPr id="10" name="Shape 8"/>
          <p:cNvSpPr/>
          <p:nvPr/>
        </p:nvSpPr>
        <p:spPr>
          <a:xfrm>
            <a:off x="793790" y="5594747"/>
            <a:ext cx="510302" cy="510302"/>
          </a:xfrm>
          <a:prstGeom prst="roundRect">
            <a:avLst>
              <a:gd name="adj" fmla="val 40005"/>
            </a:avLst>
          </a:prstGeom>
          <a:solidFill>
            <a:srgbClr val="E8F3E8"/>
          </a:solidFill>
          <a:ln/>
        </p:spPr>
      </p:sp>
      <p:sp>
        <p:nvSpPr>
          <p:cNvPr id="11" name="Text 9"/>
          <p:cNvSpPr/>
          <p:nvPr/>
        </p:nvSpPr>
        <p:spPr>
          <a:xfrm>
            <a:off x="1530906" y="5672614"/>
            <a:ext cx="4188500" cy="354330"/>
          </a:xfrm>
          <a:prstGeom prst="rect">
            <a:avLst/>
          </a:prstGeom>
          <a:noFill/>
          <a:ln/>
        </p:spPr>
        <p:txBody>
          <a:bodyPr wrap="none" lIns="0" tIns="0" rIns="0" bIns="0" rtlCol="0" anchor="t"/>
          <a:lstStyle/>
          <a:p>
            <a:pPr algn="l" indent="0" marL="0">
              <a:lnSpc>
                <a:spcPts val="2750"/>
              </a:lnSpc>
              <a:buNone/>
            </a:pPr>
            <a:r>
              <a:rPr lang="en-US" sz="2200" b="1" dirty="0">
                <a:solidFill>
                  <a:srgbClr val="405449"/>
                </a:solidFill>
                <a:latin typeface="Fraunces Extra Bold" pitchFamily="34" charset="0"/>
                <a:ea typeface="Fraunces Extra Bold" pitchFamily="34" charset="-122"/>
                <a:cs typeface="Fraunces Extra Bold" pitchFamily="34" charset="-120"/>
              </a:rPr>
              <a:t>Poor for Iterative Operations</a:t>
            </a:r>
            <a:endParaRPr lang="en-US" sz="2200" dirty="0"/>
          </a:p>
        </p:txBody>
      </p:sp>
      <p:sp>
        <p:nvSpPr>
          <p:cNvPr id="12" name="Text 10"/>
          <p:cNvSpPr/>
          <p:nvPr/>
        </p:nvSpPr>
        <p:spPr>
          <a:xfrm>
            <a:off x="1530906" y="6163032"/>
            <a:ext cx="5642491" cy="1088708"/>
          </a:xfrm>
          <a:prstGeom prst="rect">
            <a:avLst/>
          </a:prstGeom>
          <a:noFill/>
          <a:ln/>
        </p:spPr>
        <p:txBody>
          <a:bodyPr wrap="square" lIns="0" tIns="0" rIns="0" bIns="0" rtlCol="0" anchor="t"/>
          <a:lstStyle/>
          <a:p>
            <a:pPr algn="l" indent="0" marL="0">
              <a:lnSpc>
                <a:spcPts val="2850"/>
              </a:lnSpc>
              <a:buNone/>
            </a:pPr>
            <a:r>
              <a:rPr lang="en-US" sz="1750" dirty="0">
                <a:solidFill>
                  <a:srgbClr val="405449"/>
                </a:solidFill>
                <a:latin typeface="Nobile" pitchFamily="34" charset="0"/>
                <a:ea typeface="Nobile" pitchFamily="34" charset="-122"/>
                <a:cs typeface="Nobile" pitchFamily="34" charset="-120"/>
              </a:rPr>
              <a:t>Tasks involving multiple passes over the same dataset (common in machine learning algorithms) are slow due to frequent disk I/O between stages.</a:t>
            </a:r>
            <a:endParaRPr lang="en-US" sz="1750" dirty="0"/>
          </a:p>
        </p:txBody>
      </p:sp>
      <p:sp>
        <p:nvSpPr>
          <p:cNvPr id="13" name="Shape 11"/>
          <p:cNvSpPr/>
          <p:nvPr/>
        </p:nvSpPr>
        <p:spPr>
          <a:xfrm>
            <a:off x="7456884" y="5594747"/>
            <a:ext cx="510302" cy="510302"/>
          </a:xfrm>
          <a:prstGeom prst="roundRect">
            <a:avLst>
              <a:gd name="adj" fmla="val 40005"/>
            </a:avLst>
          </a:prstGeom>
          <a:solidFill>
            <a:srgbClr val="E8F3E8"/>
          </a:solidFill>
          <a:ln/>
        </p:spPr>
      </p:sp>
      <p:sp>
        <p:nvSpPr>
          <p:cNvPr id="14" name="Text 12"/>
          <p:cNvSpPr/>
          <p:nvPr/>
        </p:nvSpPr>
        <p:spPr>
          <a:xfrm>
            <a:off x="8194000" y="5672614"/>
            <a:ext cx="3174325" cy="354330"/>
          </a:xfrm>
          <a:prstGeom prst="rect">
            <a:avLst/>
          </a:prstGeom>
          <a:noFill/>
          <a:ln/>
        </p:spPr>
        <p:txBody>
          <a:bodyPr wrap="none" lIns="0" tIns="0" rIns="0" bIns="0" rtlCol="0" anchor="t"/>
          <a:lstStyle/>
          <a:p>
            <a:pPr algn="l" indent="0" marL="0">
              <a:lnSpc>
                <a:spcPts val="2750"/>
              </a:lnSpc>
              <a:buNone/>
            </a:pPr>
            <a:r>
              <a:rPr lang="en-US" sz="2200" b="1" dirty="0">
                <a:solidFill>
                  <a:srgbClr val="405449"/>
                </a:solidFill>
                <a:latin typeface="Fraunces Extra Bold" pitchFamily="34" charset="0"/>
                <a:ea typeface="Fraunces Extra Bold" pitchFamily="34" charset="-122"/>
                <a:cs typeface="Fraunces Extra Bold" pitchFamily="34" charset="-120"/>
              </a:rPr>
              <a:t>Complex Architecture</a:t>
            </a:r>
            <a:endParaRPr lang="en-US" sz="2200" dirty="0"/>
          </a:p>
        </p:txBody>
      </p:sp>
      <p:sp>
        <p:nvSpPr>
          <p:cNvPr id="15" name="Text 13"/>
          <p:cNvSpPr/>
          <p:nvPr/>
        </p:nvSpPr>
        <p:spPr>
          <a:xfrm>
            <a:off x="8194000" y="6163032"/>
            <a:ext cx="5642610" cy="1088708"/>
          </a:xfrm>
          <a:prstGeom prst="rect">
            <a:avLst/>
          </a:prstGeom>
          <a:noFill/>
          <a:ln/>
        </p:spPr>
        <p:txBody>
          <a:bodyPr wrap="square" lIns="0" tIns="0" rIns="0" bIns="0" rtlCol="0" anchor="t"/>
          <a:lstStyle/>
          <a:p>
            <a:pPr algn="l" indent="0" marL="0">
              <a:lnSpc>
                <a:spcPts val="2850"/>
              </a:lnSpc>
              <a:buNone/>
            </a:pPr>
            <a:r>
              <a:rPr lang="en-US" sz="1750" dirty="0">
                <a:solidFill>
                  <a:srgbClr val="405449"/>
                </a:solidFill>
                <a:latin typeface="Nobile" pitchFamily="34" charset="0"/>
                <a:ea typeface="Nobile" pitchFamily="34" charset="-122"/>
                <a:cs typeface="Nobile" pitchFamily="34" charset="-120"/>
              </a:rPr>
              <a:t>Hadoop requires separate frameworks for ingestion (e.g., Flume, Sqoop), ETL operations, and predictive analysis, leading to a fragmented ecosystem.</a:t>
            </a:r>
            <a:endParaRPr lang="en-US" sz="17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59475" y="439579"/>
            <a:ext cx="7920633" cy="499586"/>
          </a:xfrm>
          <a:prstGeom prst="rect">
            <a:avLst/>
          </a:prstGeom>
          <a:noFill/>
          <a:ln/>
        </p:spPr>
        <p:txBody>
          <a:bodyPr wrap="none" lIns="0" tIns="0" rIns="0" bIns="0" rtlCol="0" anchor="t"/>
          <a:lstStyle/>
          <a:p>
            <a:pPr algn="l" indent="0" marL="0">
              <a:lnSpc>
                <a:spcPts val="3900"/>
              </a:lnSpc>
              <a:buNone/>
            </a:pPr>
            <a:r>
              <a:rPr lang="en-US" sz="3100" b="1" dirty="0">
                <a:solidFill>
                  <a:srgbClr val="3B4540"/>
                </a:solidFill>
                <a:latin typeface="Fraunces Extra Bold" pitchFamily="34" charset="0"/>
                <a:ea typeface="Fraunces Extra Bold" pitchFamily="34" charset="-122"/>
                <a:cs typeface="Fraunces Extra Bold" pitchFamily="34" charset="-120"/>
              </a:rPr>
              <a:t>Apache Spark: The Next-Gen Processor</a:t>
            </a:r>
            <a:endParaRPr lang="en-US" sz="3100" dirty="0"/>
          </a:p>
        </p:txBody>
      </p:sp>
      <p:sp>
        <p:nvSpPr>
          <p:cNvPr id="3" name="Text 1"/>
          <p:cNvSpPr/>
          <p:nvPr/>
        </p:nvSpPr>
        <p:spPr>
          <a:xfrm>
            <a:off x="559475" y="1258848"/>
            <a:ext cx="13511451" cy="255746"/>
          </a:xfrm>
          <a:prstGeom prst="rect">
            <a:avLst/>
          </a:prstGeom>
          <a:noFill/>
          <a:ln/>
        </p:spPr>
        <p:txBody>
          <a:bodyPr wrap="none" lIns="0" tIns="0" rIns="0" bIns="0" rtlCol="0" anchor="t"/>
          <a:lstStyle/>
          <a:p>
            <a:pPr algn="l" indent="0" marL="0">
              <a:lnSpc>
                <a:spcPts val="2000"/>
              </a:lnSpc>
              <a:buNone/>
            </a:pPr>
            <a:r>
              <a:rPr lang="en-US" sz="1250" dirty="0">
                <a:solidFill>
                  <a:srgbClr val="405449"/>
                </a:solidFill>
                <a:latin typeface="Nobile" pitchFamily="34" charset="0"/>
                <a:ea typeface="Nobile" pitchFamily="34" charset="-122"/>
                <a:cs typeface="Nobile" pitchFamily="34" charset="-120"/>
              </a:rPr>
              <a:t>Apache Spark emerged as a powerful successor to MapReduce, designed for faster, more versatile data processing.</a:t>
            </a:r>
            <a:endParaRPr lang="en-US" sz="1250" dirty="0"/>
          </a:p>
        </p:txBody>
      </p:sp>
      <p:pic>
        <p:nvPicPr>
          <p:cNvPr id="4" name="Image 0" descr="preencoded.png">    </p:cNvPr>
          <p:cNvPicPr>
            <a:picLocks noChangeAspect="1"/>
          </p:cNvPicPr>
          <p:nvPr/>
        </p:nvPicPr>
        <p:blipFill>
          <a:blip r:embed="rId1"/>
          <a:stretch>
            <a:fillRect/>
          </a:stretch>
        </p:blipFill>
        <p:spPr>
          <a:xfrm>
            <a:off x="559475" y="1874163"/>
            <a:ext cx="6560701" cy="6560701"/>
          </a:xfrm>
          <a:prstGeom prst="rect">
            <a:avLst/>
          </a:prstGeom>
        </p:spPr>
      </p:pic>
      <p:sp>
        <p:nvSpPr>
          <p:cNvPr id="5" name="Text 2"/>
          <p:cNvSpPr/>
          <p:nvPr/>
        </p:nvSpPr>
        <p:spPr>
          <a:xfrm>
            <a:off x="7517844" y="1838206"/>
            <a:ext cx="6560701" cy="767239"/>
          </a:xfrm>
          <a:prstGeom prst="rect">
            <a:avLst/>
          </a:prstGeom>
          <a:noFill/>
          <a:ln/>
        </p:spPr>
        <p:txBody>
          <a:bodyPr wrap="square" lIns="0" tIns="0" rIns="0" bIns="0" rtlCol="0" anchor="t"/>
          <a:lstStyle/>
          <a:p>
            <a:pPr algn="l" indent="0" marL="0">
              <a:lnSpc>
                <a:spcPts val="2000"/>
              </a:lnSpc>
              <a:buNone/>
            </a:pPr>
            <a:r>
              <a:rPr lang="en-US" sz="1250" dirty="0">
                <a:solidFill>
                  <a:srgbClr val="405449"/>
                </a:solidFill>
                <a:latin typeface="Nobile" pitchFamily="34" charset="0"/>
                <a:ea typeface="Nobile" pitchFamily="34" charset="-122"/>
                <a:cs typeface="Nobile" pitchFamily="34" charset="-120"/>
              </a:rPr>
              <a:t>Spark is another framework for processing data, often coexisting with Hadoop. Hadoop (specifically HDFS) is used for distributed data storage, while Spark excels at processing that distributed data.</a:t>
            </a:r>
            <a:endParaRPr lang="en-US" sz="1250" dirty="0"/>
          </a:p>
        </p:txBody>
      </p:sp>
      <p:sp>
        <p:nvSpPr>
          <p:cNvPr id="6" name="Shape 3"/>
          <p:cNvSpPr/>
          <p:nvPr/>
        </p:nvSpPr>
        <p:spPr>
          <a:xfrm>
            <a:off x="7517844" y="2785229"/>
            <a:ext cx="639485" cy="1240631"/>
          </a:xfrm>
          <a:prstGeom prst="roundRect">
            <a:avLst>
              <a:gd name="adj" fmla="val 360028"/>
            </a:avLst>
          </a:prstGeom>
          <a:solidFill>
            <a:srgbClr val="E8F3E8"/>
          </a:solidFill>
          <a:ln/>
        </p:spPr>
      </p:sp>
      <p:sp>
        <p:nvSpPr>
          <p:cNvPr id="7" name="Text 4"/>
          <p:cNvSpPr/>
          <p:nvPr/>
        </p:nvSpPr>
        <p:spPr>
          <a:xfrm>
            <a:off x="7717631" y="3255645"/>
            <a:ext cx="239792" cy="299680"/>
          </a:xfrm>
          <a:prstGeom prst="rect">
            <a:avLst/>
          </a:prstGeom>
          <a:noFill/>
          <a:ln/>
        </p:spPr>
        <p:txBody>
          <a:bodyPr wrap="none" lIns="0" tIns="0" rIns="0" bIns="0" rtlCol="0" anchor="t"/>
          <a:lstStyle/>
          <a:p>
            <a:pPr algn="l" indent="0" marL="0">
              <a:lnSpc>
                <a:spcPts val="1850"/>
              </a:lnSpc>
              <a:buNone/>
            </a:pPr>
            <a:r>
              <a:rPr lang="en-US" sz="1850" b="1" dirty="0">
                <a:solidFill>
                  <a:srgbClr val="405449"/>
                </a:solidFill>
                <a:latin typeface="Fraunces Extra Bold" pitchFamily="34" charset="0"/>
                <a:ea typeface="Fraunces Extra Bold" pitchFamily="34" charset="-122"/>
                <a:cs typeface="Fraunces Extra Bold" pitchFamily="34" charset="-120"/>
              </a:rPr>
              <a:t>1</a:t>
            </a:r>
            <a:endParaRPr lang="en-US" sz="1850" dirty="0"/>
          </a:p>
        </p:txBody>
      </p:sp>
      <p:sp>
        <p:nvSpPr>
          <p:cNvPr id="8" name="Text 5"/>
          <p:cNvSpPr/>
          <p:nvPr/>
        </p:nvSpPr>
        <p:spPr>
          <a:xfrm>
            <a:off x="8317111" y="2945011"/>
            <a:ext cx="2319457" cy="249793"/>
          </a:xfrm>
          <a:prstGeom prst="rect">
            <a:avLst/>
          </a:prstGeom>
          <a:noFill/>
          <a:ln/>
        </p:spPr>
        <p:txBody>
          <a:bodyPr wrap="none" lIns="0" tIns="0" rIns="0" bIns="0" rtlCol="0" anchor="t"/>
          <a:lstStyle/>
          <a:p>
            <a:pPr algn="l" indent="0" marL="0">
              <a:lnSpc>
                <a:spcPts val="1950"/>
              </a:lnSpc>
              <a:buNone/>
            </a:pPr>
            <a:r>
              <a:rPr lang="en-US" sz="1550" b="1" dirty="0">
                <a:solidFill>
                  <a:srgbClr val="405449"/>
                </a:solidFill>
                <a:latin typeface="Fraunces Extra Bold" pitchFamily="34" charset="0"/>
                <a:ea typeface="Fraunces Extra Bold" pitchFamily="34" charset="-122"/>
                <a:cs typeface="Fraunces Extra Bold" pitchFamily="34" charset="-120"/>
              </a:rPr>
              <a:t>In-Memory Processing</a:t>
            </a:r>
            <a:endParaRPr lang="en-US" sz="1550" dirty="0"/>
          </a:p>
        </p:txBody>
      </p:sp>
      <p:sp>
        <p:nvSpPr>
          <p:cNvPr id="9" name="Text 6"/>
          <p:cNvSpPr/>
          <p:nvPr/>
        </p:nvSpPr>
        <p:spPr>
          <a:xfrm>
            <a:off x="8317111" y="3354586"/>
            <a:ext cx="5761434" cy="511493"/>
          </a:xfrm>
          <a:prstGeom prst="rect">
            <a:avLst/>
          </a:prstGeom>
          <a:noFill/>
          <a:ln/>
        </p:spPr>
        <p:txBody>
          <a:bodyPr wrap="square" lIns="0" tIns="0" rIns="0" bIns="0" rtlCol="0" anchor="t"/>
          <a:lstStyle/>
          <a:p>
            <a:pPr algn="l" indent="0" marL="0">
              <a:lnSpc>
                <a:spcPts val="2000"/>
              </a:lnSpc>
              <a:buNone/>
            </a:pPr>
            <a:r>
              <a:rPr lang="en-US" sz="1250" dirty="0">
                <a:solidFill>
                  <a:srgbClr val="405449"/>
                </a:solidFill>
                <a:latin typeface="Nobile" pitchFamily="34" charset="0"/>
                <a:ea typeface="Nobile" pitchFamily="34" charset="-122"/>
                <a:cs typeface="Nobile" pitchFamily="34" charset="-120"/>
              </a:rPr>
              <a:t>Spark performs computations in RAM, drastically reducing latency compared to MapReduce's disk-based operations.</a:t>
            </a:r>
            <a:endParaRPr lang="en-US" sz="1250" dirty="0"/>
          </a:p>
        </p:txBody>
      </p:sp>
      <p:sp>
        <p:nvSpPr>
          <p:cNvPr id="10" name="Shape 7"/>
          <p:cNvSpPr/>
          <p:nvPr/>
        </p:nvSpPr>
        <p:spPr>
          <a:xfrm>
            <a:off x="7517844" y="4145756"/>
            <a:ext cx="639485" cy="1240631"/>
          </a:xfrm>
          <a:prstGeom prst="roundRect">
            <a:avLst>
              <a:gd name="adj" fmla="val 360028"/>
            </a:avLst>
          </a:prstGeom>
          <a:solidFill>
            <a:srgbClr val="E8F3E8"/>
          </a:solidFill>
          <a:ln/>
        </p:spPr>
      </p:sp>
      <p:sp>
        <p:nvSpPr>
          <p:cNvPr id="11" name="Text 8"/>
          <p:cNvSpPr/>
          <p:nvPr/>
        </p:nvSpPr>
        <p:spPr>
          <a:xfrm>
            <a:off x="7717631" y="4616172"/>
            <a:ext cx="239792" cy="299680"/>
          </a:xfrm>
          <a:prstGeom prst="rect">
            <a:avLst/>
          </a:prstGeom>
          <a:noFill/>
          <a:ln/>
        </p:spPr>
        <p:txBody>
          <a:bodyPr wrap="none" lIns="0" tIns="0" rIns="0" bIns="0" rtlCol="0" anchor="t"/>
          <a:lstStyle/>
          <a:p>
            <a:pPr algn="l" indent="0" marL="0">
              <a:lnSpc>
                <a:spcPts val="1850"/>
              </a:lnSpc>
              <a:buNone/>
            </a:pPr>
            <a:r>
              <a:rPr lang="en-US" sz="1850" b="1" dirty="0">
                <a:solidFill>
                  <a:srgbClr val="405449"/>
                </a:solidFill>
                <a:latin typeface="Fraunces Extra Bold" pitchFamily="34" charset="0"/>
                <a:ea typeface="Fraunces Extra Bold" pitchFamily="34" charset="-122"/>
                <a:cs typeface="Fraunces Extra Bold" pitchFamily="34" charset="-120"/>
              </a:rPr>
              <a:t>2</a:t>
            </a:r>
            <a:endParaRPr lang="en-US" sz="1850" dirty="0"/>
          </a:p>
        </p:txBody>
      </p:sp>
      <p:sp>
        <p:nvSpPr>
          <p:cNvPr id="12" name="Text 9"/>
          <p:cNvSpPr/>
          <p:nvPr/>
        </p:nvSpPr>
        <p:spPr>
          <a:xfrm>
            <a:off x="8317111" y="4305538"/>
            <a:ext cx="2052399" cy="249793"/>
          </a:xfrm>
          <a:prstGeom prst="rect">
            <a:avLst/>
          </a:prstGeom>
          <a:noFill/>
          <a:ln/>
        </p:spPr>
        <p:txBody>
          <a:bodyPr wrap="none" lIns="0" tIns="0" rIns="0" bIns="0" rtlCol="0" anchor="t"/>
          <a:lstStyle/>
          <a:p>
            <a:pPr algn="l" indent="0" marL="0">
              <a:lnSpc>
                <a:spcPts val="1950"/>
              </a:lnSpc>
              <a:buNone/>
            </a:pPr>
            <a:r>
              <a:rPr lang="en-US" sz="1550" b="1" dirty="0">
                <a:solidFill>
                  <a:srgbClr val="405449"/>
                </a:solidFill>
                <a:latin typeface="Fraunces Extra Bold" pitchFamily="34" charset="0"/>
                <a:ea typeface="Fraunces Extra Bold" pitchFamily="34" charset="-122"/>
                <a:cs typeface="Fraunces Extra Bold" pitchFamily="34" charset="-120"/>
              </a:rPr>
              <a:t>Versatile Workloads</a:t>
            </a:r>
            <a:endParaRPr lang="en-US" sz="1550" dirty="0"/>
          </a:p>
        </p:txBody>
      </p:sp>
      <p:sp>
        <p:nvSpPr>
          <p:cNvPr id="13" name="Text 10"/>
          <p:cNvSpPr/>
          <p:nvPr/>
        </p:nvSpPr>
        <p:spPr>
          <a:xfrm>
            <a:off x="8317111" y="4715113"/>
            <a:ext cx="5761434" cy="511493"/>
          </a:xfrm>
          <a:prstGeom prst="rect">
            <a:avLst/>
          </a:prstGeom>
          <a:noFill/>
          <a:ln/>
        </p:spPr>
        <p:txBody>
          <a:bodyPr wrap="square" lIns="0" tIns="0" rIns="0" bIns="0" rtlCol="0" anchor="t"/>
          <a:lstStyle/>
          <a:p>
            <a:pPr algn="l" indent="0" marL="0">
              <a:lnSpc>
                <a:spcPts val="2000"/>
              </a:lnSpc>
              <a:buNone/>
            </a:pPr>
            <a:r>
              <a:rPr lang="en-US" sz="1250" dirty="0">
                <a:solidFill>
                  <a:srgbClr val="405449"/>
                </a:solidFill>
                <a:latin typeface="Nobile" pitchFamily="34" charset="0"/>
                <a:ea typeface="Nobile" pitchFamily="34" charset="-122"/>
                <a:cs typeface="Nobile" pitchFamily="34" charset="-120"/>
              </a:rPr>
              <a:t>Handles batch processing, real-time streaming, interactive queries, and machine learning within a single, unified engine.</a:t>
            </a:r>
            <a:endParaRPr lang="en-US" sz="1250" dirty="0"/>
          </a:p>
        </p:txBody>
      </p:sp>
      <p:sp>
        <p:nvSpPr>
          <p:cNvPr id="14" name="Shape 11"/>
          <p:cNvSpPr/>
          <p:nvPr/>
        </p:nvSpPr>
        <p:spPr>
          <a:xfrm>
            <a:off x="7517844" y="5506283"/>
            <a:ext cx="639485" cy="1240631"/>
          </a:xfrm>
          <a:prstGeom prst="roundRect">
            <a:avLst>
              <a:gd name="adj" fmla="val 360028"/>
            </a:avLst>
          </a:prstGeom>
          <a:solidFill>
            <a:srgbClr val="E8F3E8"/>
          </a:solidFill>
          <a:ln/>
        </p:spPr>
      </p:sp>
      <p:sp>
        <p:nvSpPr>
          <p:cNvPr id="15" name="Text 12"/>
          <p:cNvSpPr/>
          <p:nvPr/>
        </p:nvSpPr>
        <p:spPr>
          <a:xfrm>
            <a:off x="7717631" y="5976699"/>
            <a:ext cx="239792" cy="299680"/>
          </a:xfrm>
          <a:prstGeom prst="rect">
            <a:avLst/>
          </a:prstGeom>
          <a:noFill/>
          <a:ln/>
        </p:spPr>
        <p:txBody>
          <a:bodyPr wrap="none" lIns="0" tIns="0" rIns="0" bIns="0" rtlCol="0" anchor="t"/>
          <a:lstStyle/>
          <a:p>
            <a:pPr algn="l" indent="0" marL="0">
              <a:lnSpc>
                <a:spcPts val="1850"/>
              </a:lnSpc>
              <a:buNone/>
            </a:pPr>
            <a:r>
              <a:rPr lang="en-US" sz="1850" b="1" dirty="0">
                <a:solidFill>
                  <a:srgbClr val="405449"/>
                </a:solidFill>
                <a:latin typeface="Fraunces Extra Bold" pitchFamily="34" charset="0"/>
                <a:ea typeface="Fraunces Extra Bold" pitchFamily="34" charset="-122"/>
                <a:cs typeface="Fraunces Extra Bold" pitchFamily="34" charset="-120"/>
              </a:rPr>
              <a:t>3</a:t>
            </a:r>
            <a:endParaRPr lang="en-US" sz="1850" dirty="0"/>
          </a:p>
        </p:txBody>
      </p:sp>
      <p:sp>
        <p:nvSpPr>
          <p:cNvPr id="16" name="Text 13"/>
          <p:cNvSpPr/>
          <p:nvPr/>
        </p:nvSpPr>
        <p:spPr>
          <a:xfrm>
            <a:off x="8317111" y="5666065"/>
            <a:ext cx="2086451" cy="249793"/>
          </a:xfrm>
          <a:prstGeom prst="rect">
            <a:avLst/>
          </a:prstGeom>
          <a:noFill/>
          <a:ln/>
        </p:spPr>
        <p:txBody>
          <a:bodyPr wrap="none" lIns="0" tIns="0" rIns="0" bIns="0" rtlCol="0" anchor="t"/>
          <a:lstStyle/>
          <a:p>
            <a:pPr algn="l" indent="0" marL="0">
              <a:lnSpc>
                <a:spcPts val="1950"/>
              </a:lnSpc>
              <a:buNone/>
            </a:pPr>
            <a:r>
              <a:rPr lang="en-US" sz="1550" b="1" dirty="0">
                <a:solidFill>
                  <a:srgbClr val="405449"/>
                </a:solidFill>
                <a:latin typeface="Fraunces Extra Bold" pitchFamily="34" charset="0"/>
                <a:ea typeface="Fraunces Extra Bold" pitchFamily="34" charset="-122"/>
                <a:cs typeface="Fraunces Extra Bold" pitchFamily="34" charset="-120"/>
              </a:rPr>
              <a:t>Iterative Algorithms</a:t>
            </a:r>
            <a:endParaRPr lang="en-US" sz="1550" dirty="0"/>
          </a:p>
        </p:txBody>
      </p:sp>
      <p:sp>
        <p:nvSpPr>
          <p:cNvPr id="17" name="Text 14"/>
          <p:cNvSpPr/>
          <p:nvPr/>
        </p:nvSpPr>
        <p:spPr>
          <a:xfrm>
            <a:off x="8317111" y="6075640"/>
            <a:ext cx="5761434" cy="511493"/>
          </a:xfrm>
          <a:prstGeom prst="rect">
            <a:avLst/>
          </a:prstGeom>
          <a:noFill/>
          <a:ln/>
        </p:spPr>
        <p:txBody>
          <a:bodyPr wrap="square" lIns="0" tIns="0" rIns="0" bIns="0" rtlCol="0" anchor="t"/>
          <a:lstStyle/>
          <a:p>
            <a:pPr algn="l" indent="0" marL="0">
              <a:lnSpc>
                <a:spcPts val="2000"/>
              </a:lnSpc>
              <a:buNone/>
            </a:pPr>
            <a:r>
              <a:rPr lang="en-US" sz="1250" dirty="0">
                <a:solidFill>
                  <a:srgbClr val="405449"/>
                </a:solidFill>
                <a:latin typeface="Nobile" pitchFamily="34" charset="0"/>
                <a:ea typeface="Nobile" pitchFamily="34" charset="-122"/>
                <a:cs typeface="Nobile" pitchFamily="34" charset="-120"/>
              </a:rPr>
              <a:t>Optimized for iterative algorithms, making it ideal for advanced analytics and machine learning models.</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793790" y="1465421"/>
            <a:ext cx="10939820" cy="708779"/>
          </a:xfrm>
          <a:prstGeom prst="rect">
            <a:avLst/>
          </a:prstGeom>
          <a:noFill/>
          <a:ln/>
        </p:spPr>
        <p:txBody>
          <a:bodyPr wrap="none" lIns="0" tIns="0" rIns="0" bIns="0" rtlCol="0" anchor="t"/>
          <a:lstStyle/>
          <a:p>
            <a:pPr algn="l" indent="0" marL="0">
              <a:lnSpc>
                <a:spcPts val="5550"/>
              </a:lnSpc>
              <a:buNone/>
            </a:pPr>
            <a:r>
              <a:rPr lang="en-US" sz="4450" b="1" dirty="0">
                <a:solidFill>
                  <a:srgbClr val="3B4540"/>
                </a:solidFill>
                <a:latin typeface="Fraunces Extra Bold" pitchFamily="34" charset="0"/>
                <a:ea typeface="Fraunces Extra Bold" pitchFamily="34" charset="-122"/>
                <a:cs typeface="Fraunces Extra Bold" pitchFamily="34" charset="-120"/>
              </a:rPr>
              <a:t>Understanding Data Types in Big Data</a:t>
            </a:r>
            <a:endParaRPr lang="en-US" sz="4450" dirty="0"/>
          </a:p>
        </p:txBody>
      </p:sp>
      <p:sp>
        <p:nvSpPr>
          <p:cNvPr id="3" name="Text 1"/>
          <p:cNvSpPr/>
          <p:nvPr/>
        </p:nvSpPr>
        <p:spPr>
          <a:xfrm>
            <a:off x="793790" y="2627828"/>
            <a:ext cx="13042821" cy="362903"/>
          </a:xfrm>
          <a:prstGeom prst="rect">
            <a:avLst/>
          </a:prstGeom>
          <a:noFill/>
          <a:ln/>
        </p:spPr>
        <p:txBody>
          <a:bodyPr wrap="none" lIns="0" tIns="0" rIns="0" bIns="0" rtlCol="0" anchor="t"/>
          <a:lstStyle/>
          <a:p>
            <a:pPr algn="l" indent="0" marL="0">
              <a:lnSpc>
                <a:spcPts val="2850"/>
              </a:lnSpc>
              <a:buNone/>
            </a:pPr>
            <a:r>
              <a:rPr lang="en-US" sz="1750" dirty="0">
                <a:solidFill>
                  <a:srgbClr val="405449"/>
                </a:solidFill>
                <a:latin typeface="Nobile" pitchFamily="34" charset="0"/>
                <a:ea typeface="Nobile" pitchFamily="34" charset="-122"/>
                <a:cs typeface="Nobile" pitchFamily="34" charset="-120"/>
              </a:rPr>
              <a:t>Big Data encompasses a wide variety of information, which can broadly be categorized into three types.</a:t>
            </a:r>
            <a:endParaRPr lang="en-US" sz="1750" dirty="0"/>
          </a:p>
        </p:txBody>
      </p:sp>
      <p:pic>
        <p:nvPicPr>
          <p:cNvPr id="4" name="Image 0" descr="preencoded.png">    </p:cNvPr>
          <p:cNvPicPr>
            <a:picLocks noChangeAspect="1"/>
          </p:cNvPicPr>
          <p:nvPr/>
        </p:nvPicPr>
        <p:blipFill>
          <a:blip r:embed="rId1"/>
          <a:stretch>
            <a:fillRect/>
          </a:stretch>
        </p:blipFill>
        <p:spPr>
          <a:xfrm>
            <a:off x="793790" y="3245882"/>
            <a:ext cx="566976" cy="566976"/>
          </a:xfrm>
          <a:prstGeom prst="rect">
            <a:avLst/>
          </a:prstGeom>
        </p:spPr>
      </p:pic>
      <p:sp>
        <p:nvSpPr>
          <p:cNvPr id="5" name="Text 2"/>
          <p:cNvSpPr/>
          <p:nvPr/>
        </p:nvSpPr>
        <p:spPr>
          <a:xfrm>
            <a:off x="793790" y="4096345"/>
            <a:ext cx="2835235" cy="354330"/>
          </a:xfrm>
          <a:prstGeom prst="rect">
            <a:avLst/>
          </a:prstGeom>
          <a:noFill/>
          <a:ln/>
        </p:spPr>
        <p:txBody>
          <a:bodyPr wrap="none" lIns="0" tIns="0" rIns="0" bIns="0" rtlCol="0" anchor="t"/>
          <a:lstStyle/>
          <a:p>
            <a:pPr algn="l" indent="0" marL="0">
              <a:lnSpc>
                <a:spcPts val="2750"/>
              </a:lnSpc>
              <a:buNone/>
            </a:pPr>
            <a:r>
              <a:rPr lang="en-US" sz="2200" b="1" dirty="0">
                <a:solidFill>
                  <a:srgbClr val="405449"/>
                </a:solidFill>
                <a:latin typeface="Fraunces Extra Bold" pitchFamily="34" charset="0"/>
                <a:ea typeface="Fraunces Extra Bold" pitchFamily="34" charset="-122"/>
                <a:cs typeface="Fraunces Extra Bold" pitchFamily="34" charset="-120"/>
              </a:rPr>
              <a:t>Structured Data</a:t>
            </a:r>
            <a:endParaRPr lang="en-US" sz="2200" dirty="0"/>
          </a:p>
        </p:txBody>
      </p:sp>
      <p:sp>
        <p:nvSpPr>
          <p:cNvPr id="6" name="Text 3"/>
          <p:cNvSpPr/>
          <p:nvPr/>
        </p:nvSpPr>
        <p:spPr>
          <a:xfrm>
            <a:off x="793790" y="4586764"/>
            <a:ext cx="4158615" cy="1814513"/>
          </a:xfrm>
          <a:prstGeom prst="rect">
            <a:avLst/>
          </a:prstGeom>
          <a:noFill/>
          <a:ln/>
        </p:spPr>
        <p:txBody>
          <a:bodyPr wrap="square" lIns="0" tIns="0" rIns="0" bIns="0" rtlCol="0" anchor="t"/>
          <a:lstStyle/>
          <a:p>
            <a:pPr algn="l" indent="0" marL="0">
              <a:lnSpc>
                <a:spcPts val="2850"/>
              </a:lnSpc>
              <a:buNone/>
            </a:pPr>
            <a:r>
              <a:rPr lang="en-US" sz="1750" dirty="0">
                <a:solidFill>
                  <a:srgbClr val="405449"/>
                </a:solidFill>
                <a:latin typeface="Nobile" pitchFamily="34" charset="0"/>
                <a:ea typeface="Nobile" pitchFamily="34" charset="-122"/>
                <a:cs typeface="Nobile" pitchFamily="34" charset="-120"/>
              </a:rPr>
              <a:t>Highly organized data that fits into a predefined schema, like tables with rows and columns in a relational database (e.g., SQL, CSV). Easily addressable and analyzable.</a:t>
            </a:r>
            <a:endParaRPr lang="en-US" sz="1750" dirty="0"/>
          </a:p>
        </p:txBody>
      </p:sp>
      <p:pic>
        <p:nvPicPr>
          <p:cNvPr id="7" name="Image 1" descr="preencoded.png">    </p:cNvPr>
          <p:cNvPicPr>
            <a:picLocks noChangeAspect="1"/>
          </p:cNvPicPr>
          <p:nvPr/>
        </p:nvPicPr>
        <p:blipFill>
          <a:blip r:embed="rId2"/>
          <a:stretch>
            <a:fillRect/>
          </a:stretch>
        </p:blipFill>
        <p:spPr>
          <a:xfrm>
            <a:off x="5235893" y="3245882"/>
            <a:ext cx="566976" cy="566976"/>
          </a:xfrm>
          <a:prstGeom prst="rect">
            <a:avLst/>
          </a:prstGeom>
        </p:spPr>
      </p:pic>
      <p:sp>
        <p:nvSpPr>
          <p:cNvPr id="8" name="Text 4"/>
          <p:cNvSpPr/>
          <p:nvPr/>
        </p:nvSpPr>
        <p:spPr>
          <a:xfrm>
            <a:off x="5235893" y="4096345"/>
            <a:ext cx="3163014" cy="354330"/>
          </a:xfrm>
          <a:prstGeom prst="rect">
            <a:avLst/>
          </a:prstGeom>
          <a:noFill/>
          <a:ln/>
        </p:spPr>
        <p:txBody>
          <a:bodyPr wrap="none" lIns="0" tIns="0" rIns="0" bIns="0" rtlCol="0" anchor="t"/>
          <a:lstStyle/>
          <a:p>
            <a:pPr algn="l" indent="0" marL="0">
              <a:lnSpc>
                <a:spcPts val="2750"/>
              </a:lnSpc>
              <a:buNone/>
            </a:pPr>
            <a:r>
              <a:rPr lang="en-US" sz="2200" b="1" dirty="0">
                <a:solidFill>
                  <a:srgbClr val="405449"/>
                </a:solidFill>
                <a:latin typeface="Fraunces Extra Bold" pitchFamily="34" charset="0"/>
                <a:ea typeface="Fraunces Extra Bold" pitchFamily="34" charset="-122"/>
                <a:cs typeface="Fraunces Extra Bold" pitchFamily="34" charset="-120"/>
              </a:rPr>
              <a:t>Semi-Structured Data</a:t>
            </a:r>
            <a:endParaRPr lang="en-US" sz="2200" dirty="0"/>
          </a:p>
        </p:txBody>
      </p:sp>
      <p:sp>
        <p:nvSpPr>
          <p:cNvPr id="9" name="Text 5"/>
          <p:cNvSpPr/>
          <p:nvPr/>
        </p:nvSpPr>
        <p:spPr>
          <a:xfrm>
            <a:off x="5235893" y="4586764"/>
            <a:ext cx="4158615" cy="2177415"/>
          </a:xfrm>
          <a:prstGeom prst="rect">
            <a:avLst/>
          </a:prstGeom>
          <a:noFill/>
          <a:ln/>
        </p:spPr>
        <p:txBody>
          <a:bodyPr wrap="square" lIns="0" tIns="0" rIns="0" bIns="0" rtlCol="0" anchor="t"/>
          <a:lstStyle/>
          <a:p>
            <a:pPr algn="l" indent="0" marL="0">
              <a:lnSpc>
                <a:spcPts val="2850"/>
              </a:lnSpc>
              <a:buNone/>
            </a:pPr>
            <a:r>
              <a:rPr lang="en-US" sz="1750" dirty="0">
                <a:solidFill>
                  <a:srgbClr val="405449"/>
                </a:solidFill>
                <a:latin typeface="Nobile" pitchFamily="34" charset="0"/>
                <a:ea typeface="Nobile" pitchFamily="34" charset="-122"/>
                <a:cs typeface="Nobile" pitchFamily="34" charset="-120"/>
              </a:rPr>
              <a:t>Doesn't conform to a strict relational model but has organizational properties (e.g., XML, JSON). It contains tags or markers to separate semantic elements, making it easier to parse than unstructured data.</a:t>
            </a:r>
            <a:endParaRPr lang="en-US" sz="1750" dirty="0"/>
          </a:p>
        </p:txBody>
      </p:sp>
      <p:pic>
        <p:nvPicPr>
          <p:cNvPr id="10" name="Image 2" descr="preencoded.png">    </p:cNvPr>
          <p:cNvPicPr>
            <a:picLocks noChangeAspect="1"/>
          </p:cNvPicPr>
          <p:nvPr/>
        </p:nvPicPr>
        <p:blipFill>
          <a:blip r:embed="rId3"/>
          <a:stretch>
            <a:fillRect/>
          </a:stretch>
        </p:blipFill>
        <p:spPr>
          <a:xfrm>
            <a:off x="9677995" y="3245882"/>
            <a:ext cx="566976" cy="566976"/>
          </a:xfrm>
          <a:prstGeom prst="rect">
            <a:avLst/>
          </a:prstGeom>
        </p:spPr>
      </p:pic>
      <p:sp>
        <p:nvSpPr>
          <p:cNvPr id="11" name="Text 6"/>
          <p:cNvSpPr/>
          <p:nvPr/>
        </p:nvSpPr>
        <p:spPr>
          <a:xfrm>
            <a:off x="9677995" y="4096345"/>
            <a:ext cx="2835235" cy="354330"/>
          </a:xfrm>
          <a:prstGeom prst="rect">
            <a:avLst/>
          </a:prstGeom>
          <a:noFill/>
          <a:ln/>
        </p:spPr>
        <p:txBody>
          <a:bodyPr wrap="none" lIns="0" tIns="0" rIns="0" bIns="0" rtlCol="0" anchor="t"/>
          <a:lstStyle/>
          <a:p>
            <a:pPr algn="l" indent="0" marL="0">
              <a:lnSpc>
                <a:spcPts val="2750"/>
              </a:lnSpc>
              <a:buNone/>
            </a:pPr>
            <a:r>
              <a:rPr lang="en-US" sz="2200" b="1" dirty="0">
                <a:solidFill>
                  <a:srgbClr val="405449"/>
                </a:solidFill>
                <a:latin typeface="Fraunces Extra Bold" pitchFamily="34" charset="0"/>
                <a:ea typeface="Fraunces Extra Bold" pitchFamily="34" charset="-122"/>
                <a:cs typeface="Fraunces Extra Bold" pitchFamily="34" charset="-120"/>
              </a:rPr>
              <a:t>Unstructured Data</a:t>
            </a:r>
            <a:endParaRPr lang="en-US" sz="2200" dirty="0"/>
          </a:p>
        </p:txBody>
      </p:sp>
      <p:sp>
        <p:nvSpPr>
          <p:cNvPr id="12" name="Text 7"/>
          <p:cNvSpPr/>
          <p:nvPr/>
        </p:nvSpPr>
        <p:spPr>
          <a:xfrm>
            <a:off x="9677995" y="4586764"/>
            <a:ext cx="4158615" cy="1814513"/>
          </a:xfrm>
          <a:prstGeom prst="rect">
            <a:avLst/>
          </a:prstGeom>
          <a:noFill/>
          <a:ln/>
        </p:spPr>
        <p:txBody>
          <a:bodyPr wrap="square" lIns="0" tIns="0" rIns="0" bIns="0" rtlCol="0" anchor="t"/>
          <a:lstStyle/>
          <a:p>
            <a:pPr algn="l" indent="0" marL="0">
              <a:lnSpc>
                <a:spcPts val="2850"/>
              </a:lnSpc>
              <a:buNone/>
            </a:pPr>
            <a:r>
              <a:rPr lang="en-US" sz="1750" dirty="0">
                <a:solidFill>
                  <a:srgbClr val="405449"/>
                </a:solidFill>
                <a:latin typeface="Nobile" pitchFamily="34" charset="0"/>
                <a:ea typeface="Nobile" pitchFamily="34" charset="-122"/>
                <a:cs typeface="Nobile" pitchFamily="34" charset="-120"/>
              </a:rPr>
              <a:t>Data without a predefined format or organization (e.g., text documents, PDFs, media files, log files). It requires advanced analytics techniques to extract meaningful insights.</a:t>
            </a:r>
            <a:endParaRPr lang="en-US" sz="17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793790" y="1086922"/>
            <a:ext cx="8144113" cy="708779"/>
          </a:xfrm>
          <a:prstGeom prst="rect">
            <a:avLst/>
          </a:prstGeom>
          <a:noFill/>
          <a:ln/>
        </p:spPr>
        <p:txBody>
          <a:bodyPr wrap="none" lIns="0" tIns="0" rIns="0" bIns="0" rtlCol="0" anchor="t"/>
          <a:lstStyle/>
          <a:p>
            <a:pPr algn="l" indent="0" marL="0">
              <a:lnSpc>
                <a:spcPts val="5550"/>
              </a:lnSpc>
              <a:buNone/>
            </a:pPr>
            <a:r>
              <a:rPr lang="en-US" sz="4450" b="1" dirty="0">
                <a:solidFill>
                  <a:srgbClr val="3B4540"/>
                </a:solidFill>
                <a:latin typeface="Fraunces Extra Bold" pitchFamily="34" charset="0"/>
                <a:ea typeface="Fraunces Extra Bold" pitchFamily="34" charset="-122"/>
                <a:cs typeface="Fraunces Extra Bold" pitchFamily="34" charset="-120"/>
              </a:rPr>
              <a:t>Key Takeaways &amp; Next Steps</a:t>
            </a:r>
            <a:endParaRPr lang="en-US" sz="4450" dirty="0"/>
          </a:p>
        </p:txBody>
      </p:sp>
      <p:sp>
        <p:nvSpPr>
          <p:cNvPr id="3" name="Text 1"/>
          <p:cNvSpPr/>
          <p:nvPr/>
        </p:nvSpPr>
        <p:spPr>
          <a:xfrm>
            <a:off x="793790" y="2249329"/>
            <a:ext cx="13042821" cy="362903"/>
          </a:xfrm>
          <a:prstGeom prst="rect">
            <a:avLst/>
          </a:prstGeom>
          <a:noFill/>
          <a:ln/>
        </p:spPr>
        <p:txBody>
          <a:bodyPr wrap="none" lIns="0" tIns="0" rIns="0" bIns="0" rtlCol="0" anchor="t"/>
          <a:lstStyle/>
          <a:p>
            <a:pPr algn="l" indent="0" marL="0">
              <a:lnSpc>
                <a:spcPts val="2850"/>
              </a:lnSpc>
              <a:buNone/>
            </a:pPr>
            <a:r>
              <a:rPr lang="en-US" sz="1750" dirty="0">
                <a:solidFill>
                  <a:srgbClr val="405449"/>
                </a:solidFill>
                <a:latin typeface="Nobile" pitchFamily="34" charset="0"/>
                <a:ea typeface="Nobile" pitchFamily="34" charset="-122"/>
                <a:cs typeface="Nobile" pitchFamily="34" charset="-120"/>
              </a:rPr>
              <a:t>The journey into distributed computing with PySpark is essential for modern data challenges.</a:t>
            </a:r>
            <a:endParaRPr lang="en-US" sz="1750" dirty="0"/>
          </a:p>
        </p:txBody>
      </p:sp>
      <p:sp>
        <p:nvSpPr>
          <p:cNvPr id="4" name="Shape 2"/>
          <p:cNvSpPr/>
          <p:nvPr/>
        </p:nvSpPr>
        <p:spPr>
          <a:xfrm>
            <a:off x="793790" y="3547824"/>
            <a:ext cx="4234220" cy="226814"/>
          </a:xfrm>
          <a:prstGeom prst="roundRect">
            <a:avLst>
              <a:gd name="adj" fmla="val 90006"/>
            </a:avLst>
          </a:prstGeom>
          <a:solidFill>
            <a:srgbClr val="E8F3E8"/>
          </a:solidFill>
          <a:ln/>
        </p:spPr>
      </p:sp>
      <p:sp>
        <p:nvSpPr>
          <p:cNvPr id="5" name="Text 3"/>
          <p:cNvSpPr/>
          <p:nvPr/>
        </p:nvSpPr>
        <p:spPr>
          <a:xfrm>
            <a:off x="1020604" y="4001453"/>
            <a:ext cx="3780592" cy="708660"/>
          </a:xfrm>
          <a:prstGeom prst="rect">
            <a:avLst/>
          </a:prstGeom>
          <a:noFill/>
          <a:ln/>
        </p:spPr>
        <p:txBody>
          <a:bodyPr wrap="square" lIns="0" tIns="0" rIns="0" bIns="0" rtlCol="0" anchor="t"/>
          <a:lstStyle/>
          <a:p>
            <a:pPr algn="l" indent="0" marL="0">
              <a:lnSpc>
                <a:spcPts val="2750"/>
              </a:lnSpc>
              <a:buNone/>
            </a:pPr>
            <a:r>
              <a:rPr lang="en-US" sz="2200" b="1" dirty="0">
                <a:solidFill>
                  <a:srgbClr val="405449"/>
                </a:solidFill>
                <a:latin typeface="Fraunces Extra Bold" pitchFamily="34" charset="0"/>
                <a:ea typeface="Fraunces Extra Bold" pitchFamily="34" charset="-122"/>
                <a:cs typeface="Fraunces Extra Bold" pitchFamily="34" charset="-120"/>
              </a:rPr>
              <a:t>Embrace Distributed Systems</a:t>
            </a:r>
            <a:endParaRPr lang="en-US" sz="2200" dirty="0"/>
          </a:p>
        </p:txBody>
      </p:sp>
      <p:sp>
        <p:nvSpPr>
          <p:cNvPr id="6" name="Text 4"/>
          <p:cNvSpPr/>
          <p:nvPr/>
        </p:nvSpPr>
        <p:spPr>
          <a:xfrm>
            <a:off x="1020604" y="4846201"/>
            <a:ext cx="3780592" cy="1451610"/>
          </a:xfrm>
          <a:prstGeom prst="rect">
            <a:avLst/>
          </a:prstGeom>
          <a:noFill/>
          <a:ln/>
        </p:spPr>
        <p:txBody>
          <a:bodyPr wrap="square" lIns="0" tIns="0" rIns="0" bIns="0" rtlCol="0" anchor="t"/>
          <a:lstStyle/>
          <a:p>
            <a:pPr algn="l" indent="0" marL="0">
              <a:lnSpc>
                <a:spcPts val="2850"/>
              </a:lnSpc>
              <a:buNone/>
            </a:pPr>
            <a:r>
              <a:rPr lang="en-US" sz="1750" dirty="0">
                <a:solidFill>
                  <a:srgbClr val="405449"/>
                </a:solidFill>
                <a:latin typeface="Nobile" pitchFamily="34" charset="0"/>
                <a:ea typeface="Nobile" pitchFamily="34" charset="-122"/>
                <a:cs typeface="Nobile" pitchFamily="34" charset="-120"/>
              </a:rPr>
              <a:t>Understand the necessity of distributed architectures (like Hadoop clusters) for handling the ever-growing volume of data.</a:t>
            </a:r>
            <a:endParaRPr lang="en-US" sz="1750" dirty="0"/>
          </a:p>
        </p:txBody>
      </p:sp>
      <p:sp>
        <p:nvSpPr>
          <p:cNvPr id="7" name="Shape 5"/>
          <p:cNvSpPr/>
          <p:nvPr/>
        </p:nvSpPr>
        <p:spPr>
          <a:xfrm>
            <a:off x="5198031" y="3207544"/>
            <a:ext cx="4234220" cy="226814"/>
          </a:xfrm>
          <a:prstGeom prst="roundRect">
            <a:avLst>
              <a:gd name="adj" fmla="val 90006"/>
            </a:avLst>
          </a:prstGeom>
          <a:solidFill>
            <a:srgbClr val="E8F3E8"/>
          </a:solidFill>
          <a:ln/>
        </p:spPr>
      </p:sp>
      <p:sp>
        <p:nvSpPr>
          <p:cNvPr id="8" name="Text 6"/>
          <p:cNvSpPr/>
          <p:nvPr/>
        </p:nvSpPr>
        <p:spPr>
          <a:xfrm>
            <a:off x="5424845" y="3661172"/>
            <a:ext cx="3418523" cy="354330"/>
          </a:xfrm>
          <a:prstGeom prst="rect">
            <a:avLst/>
          </a:prstGeom>
          <a:noFill/>
          <a:ln/>
        </p:spPr>
        <p:txBody>
          <a:bodyPr wrap="none" lIns="0" tIns="0" rIns="0" bIns="0" rtlCol="0" anchor="t"/>
          <a:lstStyle/>
          <a:p>
            <a:pPr algn="l" indent="0" marL="0">
              <a:lnSpc>
                <a:spcPts val="2750"/>
              </a:lnSpc>
              <a:buNone/>
            </a:pPr>
            <a:r>
              <a:rPr lang="en-US" sz="2200" b="1" dirty="0">
                <a:solidFill>
                  <a:srgbClr val="405449"/>
                </a:solidFill>
                <a:latin typeface="Fraunces Extra Bold" pitchFamily="34" charset="0"/>
                <a:ea typeface="Fraunces Extra Bold" pitchFamily="34" charset="-122"/>
                <a:cs typeface="Fraunces Extra Bold" pitchFamily="34" charset="-120"/>
              </a:rPr>
              <a:t>Leverage Spark's Power</a:t>
            </a:r>
            <a:endParaRPr lang="en-US" sz="2200" dirty="0"/>
          </a:p>
        </p:txBody>
      </p:sp>
      <p:sp>
        <p:nvSpPr>
          <p:cNvPr id="9" name="Text 7"/>
          <p:cNvSpPr/>
          <p:nvPr/>
        </p:nvSpPr>
        <p:spPr>
          <a:xfrm>
            <a:off x="5424845" y="4151590"/>
            <a:ext cx="3780592" cy="1814513"/>
          </a:xfrm>
          <a:prstGeom prst="rect">
            <a:avLst/>
          </a:prstGeom>
          <a:noFill/>
          <a:ln/>
        </p:spPr>
        <p:txBody>
          <a:bodyPr wrap="square" lIns="0" tIns="0" rIns="0" bIns="0" rtlCol="0" anchor="t"/>
          <a:lstStyle/>
          <a:p>
            <a:pPr algn="l" indent="0" marL="0">
              <a:lnSpc>
                <a:spcPts val="2850"/>
              </a:lnSpc>
              <a:buNone/>
            </a:pPr>
            <a:r>
              <a:rPr lang="en-US" sz="1750" dirty="0">
                <a:solidFill>
                  <a:srgbClr val="405449"/>
                </a:solidFill>
                <a:latin typeface="Nobile" pitchFamily="34" charset="0"/>
                <a:ea typeface="Nobile" pitchFamily="34" charset="-122"/>
                <a:cs typeface="Nobile" pitchFamily="34" charset="-120"/>
              </a:rPr>
              <a:t>Utilize Apache Spark for high-performance, versatile data processing, overcoming the limitations of traditional MapReduce.</a:t>
            </a:r>
            <a:endParaRPr lang="en-US" sz="1750" dirty="0"/>
          </a:p>
        </p:txBody>
      </p:sp>
      <p:sp>
        <p:nvSpPr>
          <p:cNvPr id="10" name="Shape 8"/>
          <p:cNvSpPr/>
          <p:nvPr/>
        </p:nvSpPr>
        <p:spPr>
          <a:xfrm>
            <a:off x="9602272" y="2867382"/>
            <a:ext cx="4234220" cy="226814"/>
          </a:xfrm>
          <a:prstGeom prst="roundRect">
            <a:avLst>
              <a:gd name="adj" fmla="val 90006"/>
            </a:avLst>
          </a:prstGeom>
          <a:solidFill>
            <a:srgbClr val="E8F3E8"/>
          </a:solidFill>
          <a:ln/>
        </p:spPr>
      </p:sp>
      <p:sp>
        <p:nvSpPr>
          <p:cNvPr id="11" name="Text 9"/>
          <p:cNvSpPr/>
          <p:nvPr/>
        </p:nvSpPr>
        <p:spPr>
          <a:xfrm>
            <a:off x="9829086" y="3321010"/>
            <a:ext cx="3780592" cy="708660"/>
          </a:xfrm>
          <a:prstGeom prst="rect">
            <a:avLst/>
          </a:prstGeom>
          <a:noFill/>
          <a:ln/>
        </p:spPr>
        <p:txBody>
          <a:bodyPr wrap="square" lIns="0" tIns="0" rIns="0" bIns="0" rtlCol="0" anchor="t"/>
          <a:lstStyle/>
          <a:p>
            <a:pPr algn="l" indent="0" marL="0">
              <a:lnSpc>
                <a:spcPts val="2750"/>
              </a:lnSpc>
              <a:buNone/>
            </a:pPr>
            <a:r>
              <a:rPr lang="en-US" sz="2200" b="1" dirty="0">
                <a:solidFill>
                  <a:srgbClr val="405449"/>
                </a:solidFill>
                <a:latin typeface="Fraunces Extra Bold" pitchFamily="34" charset="0"/>
                <a:ea typeface="Fraunces Extra Bold" pitchFamily="34" charset="-122"/>
                <a:cs typeface="Fraunces Extra Bold" pitchFamily="34" charset="-120"/>
              </a:rPr>
              <a:t>Master PySpark Fundamentals</a:t>
            </a:r>
            <a:endParaRPr lang="en-US" sz="2200" dirty="0"/>
          </a:p>
        </p:txBody>
      </p:sp>
      <p:sp>
        <p:nvSpPr>
          <p:cNvPr id="12" name="Text 10"/>
          <p:cNvSpPr/>
          <p:nvPr/>
        </p:nvSpPr>
        <p:spPr>
          <a:xfrm>
            <a:off x="9829086" y="4165759"/>
            <a:ext cx="3780592" cy="1451610"/>
          </a:xfrm>
          <a:prstGeom prst="rect">
            <a:avLst/>
          </a:prstGeom>
          <a:noFill/>
          <a:ln/>
        </p:spPr>
        <p:txBody>
          <a:bodyPr wrap="square" lIns="0" tIns="0" rIns="0" bIns="0" rtlCol="0" anchor="t"/>
          <a:lstStyle/>
          <a:p>
            <a:pPr algn="l" indent="0" marL="0">
              <a:lnSpc>
                <a:spcPts val="2850"/>
              </a:lnSpc>
              <a:buNone/>
            </a:pPr>
            <a:r>
              <a:rPr lang="en-US" sz="1750" dirty="0">
                <a:solidFill>
                  <a:srgbClr val="405449"/>
                </a:solidFill>
                <a:latin typeface="Nobile" pitchFamily="34" charset="0"/>
                <a:ea typeface="Nobile" pitchFamily="34" charset="-122"/>
                <a:cs typeface="Nobile" pitchFamily="34" charset="-120"/>
              </a:rPr>
              <a:t>Dive into PySpark for practical application of these concepts, enabling scalable data engineering and data science solutions.</a:t>
            </a:r>
            <a:endParaRPr lang="en-US" sz="1750" dirty="0"/>
          </a:p>
        </p:txBody>
      </p:sp>
      <p:sp>
        <p:nvSpPr>
          <p:cNvPr id="13" name="Text 11"/>
          <p:cNvSpPr/>
          <p:nvPr/>
        </p:nvSpPr>
        <p:spPr>
          <a:xfrm>
            <a:off x="793790" y="6779776"/>
            <a:ext cx="13042821" cy="362903"/>
          </a:xfrm>
          <a:prstGeom prst="rect">
            <a:avLst/>
          </a:prstGeom>
          <a:noFill/>
          <a:ln/>
        </p:spPr>
        <p:txBody>
          <a:bodyPr wrap="none" lIns="0" tIns="0" rIns="0" bIns="0" rtlCol="0" anchor="t"/>
          <a:lstStyle/>
          <a:p>
            <a:pPr algn="ctr" indent="0" marL="0">
              <a:lnSpc>
                <a:spcPts val="2850"/>
              </a:lnSpc>
              <a:buNone/>
            </a:pPr>
            <a:r>
              <a:rPr lang="en-US" sz="1750" dirty="0">
                <a:solidFill>
                  <a:srgbClr val="405449"/>
                </a:solidFill>
                <a:latin typeface="Nobile" pitchFamily="34" charset="0"/>
                <a:ea typeface="Nobile" pitchFamily="34" charset="-122"/>
                <a:cs typeface="Nobile" pitchFamily="34" charset="-120"/>
              </a:rPr>
              <a:t>Ready to scale your data processing? Explore PySpark in depth!</a:t>
            </a:r>
            <a:endParaRPr lang="en-US" sz="17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2025-07-21T12:24:08Z</dcterms:created>
  <dcterms:modified xsi:type="dcterms:W3CDTF">2025-07-21T12:24:08Z</dcterms:modified>
</cp:coreProperties>
</file>